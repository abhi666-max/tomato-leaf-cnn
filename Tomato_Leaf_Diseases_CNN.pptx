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16"/>
  </p:notesMasterIdLst>
  <p:sldIdLst>
    <p:sldId id="267" r:id="rId2"/>
    <p:sldId id="257" r:id="rId3"/>
    <p:sldId id="263" r:id="rId4"/>
    <p:sldId id="258" r:id="rId5"/>
    <p:sldId id="259" r:id="rId6"/>
    <p:sldId id="268" r:id="rId7"/>
    <p:sldId id="260" r:id="rId8"/>
    <p:sldId id="269" r:id="rId9"/>
    <p:sldId id="265" r:id="rId10"/>
    <p:sldId id="270" r:id="rId11"/>
    <p:sldId id="262" r:id="rId12"/>
    <p:sldId id="264" r:id="rId13"/>
    <p:sldId id="266" r:id="rId14"/>
    <p:sldId id="27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77" dt="2026-09-28T08:31:27.009"/>
    <p1510:client id="{32CD3F3A-CB72-0A09-077D-930DEEB3E9C2}" v="11" dt="2026-09-28T08:34:42.3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0" d="100"/>
          <a:sy n="90" d="100"/>
        </p:scale>
        <p:origin x="39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A4C088-317A-47AE-BA7E-B89DECC2D146}" type="datetimeFigureOut">
              <a:rPr lang="en-IN" smtClean="0"/>
              <a:t>02-10-2026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3D9C66-732B-464C-B720-CBA5C245C3C9}" type="slidenum">
              <a:rPr lang="en-IN" smtClean="0"/>
              <a:t>‹#›</a:t>
            </a:fld>
            <a:endParaRPr lang="en-IN"/>
          </a:p>
        </p:txBody>
      </p:sp>
    </p:spTree>
    <p:extLst>
      <p:ext uri="{BB962C8B-B14F-4D97-AF65-F5344CB8AC3E}">
        <p14:creationId xmlns:p14="http://schemas.microsoft.com/office/powerpoint/2010/main" val="3230408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43D9C66-732B-464C-B720-CBA5C245C3C9}" type="slidenum">
              <a:rPr lang="en-IN" smtClean="0"/>
              <a:t>2</a:t>
            </a:fld>
            <a:endParaRPr lang="en-IN"/>
          </a:p>
        </p:txBody>
      </p:sp>
    </p:spTree>
    <p:extLst>
      <p:ext uri="{BB962C8B-B14F-4D97-AF65-F5344CB8AC3E}">
        <p14:creationId xmlns:p14="http://schemas.microsoft.com/office/powerpoint/2010/main" val="1089364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43D9C66-732B-464C-B720-CBA5C245C3C9}" type="slidenum">
              <a:rPr lang="en-IN" smtClean="0"/>
              <a:t>3</a:t>
            </a:fld>
            <a:endParaRPr lang="en-IN"/>
          </a:p>
        </p:txBody>
      </p:sp>
    </p:spTree>
    <p:extLst>
      <p:ext uri="{BB962C8B-B14F-4D97-AF65-F5344CB8AC3E}">
        <p14:creationId xmlns:p14="http://schemas.microsoft.com/office/powerpoint/2010/main" val="4008696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43D9C66-732B-464C-B720-CBA5C245C3C9}" type="slidenum">
              <a:rPr lang="en-IN" smtClean="0"/>
              <a:t>4</a:t>
            </a:fld>
            <a:endParaRPr lang="en-IN"/>
          </a:p>
        </p:txBody>
      </p:sp>
    </p:spTree>
    <p:extLst>
      <p:ext uri="{BB962C8B-B14F-4D97-AF65-F5344CB8AC3E}">
        <p14:creationId xmlns:p14="http://schemas.microsoft.com/office/powerpoint/2010/main" val="21950914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5D28FEA9-B8F6-4E51-BAE5-D9B3C5744581}" type="datetimeFigureOut">
              <a:rPr lang="en-IN" smtClean="0"/>
              <a:t>02-10-2026</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BBEDB26D-2908-440A-96BB-0656CE5BDF61}" type="slidenum">
              <a:rPr lang="en-IN" smtClean="0"/>
              <a:t>‹#›</a:t>
            </a:fld>
            <a:endParaRPr lang="en-IN"/>
          </a:p>
        </p:txBody>
      </p:sp>
    </p:spTree>
    <p:extLst>
      <p:ext uri="{BB962C8B-B14F-4D97-AF65-F5344CB8AC3E}">
        <p14:creationId xmlns:p14="http://schemas.microsoft.com/office/powerpoint/2010/main" val="886377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28FEA9-B8F6-4E51-BAE5-D9B3C5744581}" type="datetimeFigureOut">
              <a:rPr lang="en-IN" smtClean="0"/>
              <a:t>02-10-2026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EDB26D-2908-440A-96BB-0656CE5BDF61}" type="slidenum">
              <a:rPr lang="en-IN" smtClean="0"/>
              <a:t>‹#›</a:t>
            </a:fld>
            <a:endParaRPr lang="en-IN"/>
          </a:p>
        </p:txBody>
      </p:sp>
    </p:spTree>
    <p:extLst>
      <p:ext uri="{BB962C8B-B14F-4D97-AF65-F5344CB8AC3E}">
        <p14:creationId xmlns:p14="http://schemas.microsoft.com/office/powerpoint/2010/main" val="2515986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5D28FEA9-B8F6-4E51-BAE5-D9B3C5744581}" type="datetimeFigureOut">
              <a:rPr lang="en-IN" smtClean="0"/>
              <a:t>02-10-2026</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BBEDB26D-2908-440A-96BB-0656CE5BDF61}" type="slidenum">
              <a:rPr lang="en-IN" smtClean="0"/>
              <a:t>‹#›</a:t>
            </a:fld>
            <a:endParaRPr lang="en-IN"/>
          </a:p>
        </p:txBody>
      </p:sp>
    </p:spTree>
    <p:extLst>
      <p:ext uri="{BB962C8B-B14F-4D97-AF65-F5344CB8AC3E}">
        <p14:creationId xmlns:p14="http://schemas.microsoft.com/office/powerpoint/2010/main" val="2203416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28FEA9-B8F6-4E51-BAE5-D9B3C5744581}" type="datetimeFigureOut">
              <a:rPr lang="en-IN" smtClean="0"/>
              <a:t>02-10-2026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EDB26D-2908-440A-96BB-0656CE5BDF61}" type="slidenum">
              <a:rPr lang="en-IN" smtClean="0"/>
              <a:t>‹#›</a:t>
            </a:fld>
            <a:endParaRPr lang="en-IN"/>
          </a:p>
        </p:txBody>
      </p:sp>
    </p:spTree>
    <p:extLst>
      <p:ext uri="{BB962C8B-B14F-4D97-AF65-F5344CB8AC3E}">
        <p14:creationId xmlns:p14="http://schemas.microsoft.com/office/powerpoint/2010/main" val="3769874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28FEA9-B8F6-4E51-BAE5-D9B3C5744581}" type="datetimeFigureOut">
              <a:rPr lang="en-IN" smtClean="0"/>
              <a:t>02-10-2026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BEDB26D-2908-440A-96BB-0656CE5BDF61}" type="slidenum">
              <a:rPr lang="en-IN" smtClean="0"/>
              <a:t>‹#›</a:t>
            </a:fld>
            <a:endParaRPr lang="en-IN"/>
          </a:p>
        </p:txBody>
      </p:sp>
    </p:spTree>
    <p:extLst>
      <p:ext uri="{BB962C8B-B14F-4D97-AF65-F5344CB8AC3E}">
        <p14:creationId xmlns:p14="http://schemas.microsoft.com/office/powerpoint/2010/main" val="3830774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28FEA9-B8F6-4E51-BAE5-D9B3C5744581}" type="datetimeFigureOut">
              <a:rPr lang="en-IN" smtClean="0"/>
              <a:t>02-10-2026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BEDB26D-2908-440A-96BB-0656CE5BDF61}" type="slidenum">
              <a:rPr lang="en-IN" smtClean="0"/>
              <a:t>‹#›</a:t>
            </a:fld>
            <a:endParaRPr lang="en-IN"/>
          </a:p>
        </p:txBody>
      </p:sp>
    </p:spTree>
    <p:extLst>
      <p:ext uri="{BB962C8B-B14F-4D97-AF65-F5344CB8AC3E}">
        <p14:creationId xmlns:p14="http://schemas.microsoft.com/office/powerpoint/2010/main" val="498457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28FEA9-B8F6-4E51-BAE5-D9B3C5744581}" type="datetimeFigureOut">
              <a:rPr lang="en-IN" smtClean="0"/>
              <a:t>02-10-2026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BEDB26D-2908-440A-96BB-0656CE5BDF61}" type="slidenum">
              <a:rPr lang="en-IN" smtClean="0"/>
              <a:t>‹#›</a:t>
            </a:fld>
            <a:endParaRPr lang="en-IN"/>
          </a:p>
        </p:txBody>
      </p:sp>
    </p:spTree>
    <p:extLst>
      <p:ext uri="{BB962C8B-B14F-4D97-AF65-F5344CB8AC3E}">
        <p14:creationId xmlns:p14="http://schemas.microsoft.com/office/powerpoint/2010/main" val="4237288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28FEA9-B8F6-4E51-BAE5-D9B3C5744581}" type="datetimeFigureOut">
              <a:rPr lang="en-IN" smtClean="0"/>
              <a:t>02-10-2026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EDB26D-2908-440A-96BB-0656CE5BDF61}" type="slidenum">
              <a:rPr lang="en-IN" smtClean="0"/>
              <a:t>‹#›</a:t>
            </a:fld>
            <a:endParaRPr lang="en-IN"/>
          </a:p>
        </p:txBody>
      </p:sp>
    </p:spTree>
    <p:extLst>
      <p:ext uri="{BB962C8B-B14F-4D97-AF65-F5344CB8AC3E}">
        <p14:creationId xmlns:p14="http://schemas.microsoft.com/office/powerpoint/2010/main" val="1413352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28FEA9-B8F6-4E51-BAE5-D9B3C5744581}" type="datetimeFigureOut">
              <a:rPr lang="en-IN" smtClean="0"/>
              <a:t>02-10-2026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EDB26D-2908-440A-96BB-0656CE5BDF61}" type="slidenum">
              <a:rPr lang="en-IN" smtClean="0"/>
              <a:t>‹#›</a:t>
            </a:fld>
            <a:endParaRPr lang="en-IN"/>
          </a:p>
        </p:txBody>
      </p:sp>
    </p:spTree>
    <p:extLst>
      <p:ext uri="{BB962C8B-B14F-4D97-AF65-F5344CB8AC3E}">
        <p14:creationId xmlns:p14="http://schemas.microsoft.com/office/powerpoint/2010/main" val="121217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28FEA9-B8F6-4E51-BAE5-D9B3C5744581}" type="datetimeFigureOut">
              <a:rPr lang="en-IN" smtClean="0"/>
              <a:t>02-10-2026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EDB26D-2908-440A-96BB-0656CE5BDF61}" type="slidenum">
              <a:rPr lang="en-IN" smtClean="0"/>
              <a:t>‹#›</a:t>
            </a:fld>
            <a:endParaRPr lang="en-IN"/>
          </a:p>
        </p:txBody>
      </p:sp>
    </p:spTree>
    <p:extLst>
      <p:ext uri="{BB962C8B-B14F-4D97-AF65-F5344CB8AC3E}">
        <p14:creationId xmlns:p14="http://schemas.microsoft.com/office/powerpoint/2010/main" val="3767228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5D28FEA9-B8F6-4E51-BAE5-D9B3C5744581}" type="datetimeFigureOut">
              <a:rPr lang="en-IN" smtClean="0"/>
              <a:t>02-10-2026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BBEDB26D-2908-440A-96BB-0656CE5BDF61}" type="slidenum">
              <a:rPr lang="en-IN" smtClean="0"/>
              <a:t>‹#›</a:t>
            </a:fld>
            <a:endParaRPr lang="en-IN"/>
          </a:p>
        </p:txBody>
      </p:sp>
    </p:spTree>
    <p:extLst>
      <p:ext uri="{BB962C8B-B14F-4D97-AF65-F5344CB8AC3E}">
        <p14:creationId xmlns:p14="http://schemas.microsoft.com/office/powerpoint/2010/main" val="35112298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5D28FEA9-B8F6-4E51-BAE5-D9B3C5744581}" type="datetimeFigureOut">
              <a:rPr lang="en-IN" smtClean="0"/>
              <a:t>02-10-2026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BBEDB26D-2908-440A-96BB-0656CE5BDF61}"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75617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5D28FEA9-B8F6-4E51-BAE5-D9B3C5744581}" type="datetimeFigureOut">
              <a:rPr lang="en-IN" smtClean="0"/>
              <a:t>02-10-2026</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BBEDB26D-2908-440A-96BB-0656CE5BDF61}" type="slidenum">
              <a:rPr lang="en-IN" smtClean="0"/>
              <a:t>‹#›</a:t>
            </a:fld>
            <a:endParaRPr lang="en-IN"/>
          </a:p>
        </p:txBody>
      </p:sp>
    </p:spTree>
    <p:extLst>
      <p:ext uri="{BB962C8B-B14F-4D97-AF65-F5344CB8AC3E}">
        <p14:creationId xmlns:p14="http://schemas.microsoft.com/office/powerpoint/2010/main" val="26793401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D28FEA9-B8F6-4E51-BAE5-D9B3C5744581}" type="datetimeFigureOut">
              <a:rPr lang="en-IN" smtClean="0"/>
              <a:t>02-10-2026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BEDB26D-2908-440A-96BB-0656CE5BDF61}" type="slidenum">
              <a:rPr lang="en-IN" smtClean="0"/>
              <a:t>‹#›</a:t>
            </a:fld>
            <a:endParaRPr lang="en-IN"/>
          </a:p>
        </p:txBody>
      </p:sp>
    </p:spTree>
    <p:extLst>
      <p:ext uri="{BB962C8B-B14F-4D97-AF65-F5344CB8AC3E}">
        <p14:creationId xmlns:p14="http://schemas.microsoft.com/office/powerpoint/2010/main" val="9866220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D28FEA9-B8F6-4E51-BAE5-D9B3C5744581}" type="datetimeFigureOut">
              <a:rPr lang="en-IN" smtClean="0"/>
              <a:t>02-10-2026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BEDB26D-2908-440A-96BB-0656CE5BDF61}" type="slidenum">
              <a:rPr lang="en-IN" smtClean="0"/>
              <a:t>‹#›</a:t>
            </a:fld>
            <a:endParaRPr lang="en-IN"/>
          </a:p>
        </p:txBody>
      </p:sp>
    </p:spTree>
    <p:extLst>
      <p:ext uri="{BB962C8B-B14F-4D97-AF65-F5344CB8AC3E}">
        <p14:creationId xmlns:p14="http://schemas.microsoft.com/office/powerpoint/2010/main" val="12593088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28FEA9-B8F6-4E51-BAE5-D9B3C5744581}" type="datetimeFigureOut">
              <a:rPr lang="en-IN" smtClean="0"/>
              <a:t>02-10-2026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EDB26D-2908-440A-96BB-0656CE5BDF61}" type="slidenum">
              <a:rPr lang="en-IN" smtClean="0"/>
              <a:t>‹#›</a:t>
            </a:fld>
            <a:endParaRPr lang="en-IN"/>
          </a:p>
        </p:txBody>
      </p:sp>
    </p:spTree>
    <p:extLst>
      <p:ext uri="{BB962C8B-B14F-4D97-AF65-F5344CB8AC3E}">
        <p14:creationId xmlns:p14="http://schemas.microsoft.com/office/powerpoint/2010/main" val="5314611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5D28FEA9-B8F6-4E51-BAE5-D9B3C5744581}" type="datetimeFigureOut">
              <a:rPr lang="en-IN" smtClean="0"/>
              <a:t>02-10-2026</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BBEDB26D-2908-440A-96BB-0656CE5BDF61}" type="slidenum">
              <a:rPr lang="en-IN" smtClean="0"/>
              <a:t>‹#›</a:t>
            </a:fld>
            <a:endParaRPr lang="en-IN"/>
          </a:p>
        </p:txBody>
      </p:sp>
    </p:spTree>
    <p:extLst>
      <p:ext uri="{BB962C8B-B14F-4D97-AF65-F5344CB8AC3E}">
        <p14:creationId xmlns:p14="http://schemas.microsoft.com/office/powerpoint/2010/main" val="3800235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D28FEA9-B8F6-4E51-BAE5-D9B3C5744581}" type="datetimeFigureOut">
              <a:rPr lang="en-IN" smtClean="0"/>
              <a:t>02-10-2026</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BEDB26D-2908-440A-96BB-0656CE5BDF61}" type="slidenum">
              <a:rPr lang="en-IN" smtClean="0"/>
              <a:t>‹#›</a:t>
            </a:fld>
            <a:endParaRPr lang="en-IN"/>
          </a:p>
        </p:txBody>
      </p:sp>
    </p:spTree>
    <p:extLst>
      <p:ext uri="{BB962C8B-B14F-4D97-AF65-F5344CB8AC3E}">
        <p14:creationId xmlns:p14="http://schemas.microsoft.com/office/powerpoint/2010/main" val="2236923731"/>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oi.org/10.1007/978-3-032-05120-2_18" TargetMode="External"/><Relationship Id="rId7" Type="http://schemas.openxmlformats.org/officeDocument/2006/relationships/image" Target="../media/image3.png"/><Relationship Id="rId2" Type="http://schemas.openxmlformats.org/officeDocument/2006/relationships/hyperlink" Target="https://doi.org/10.1007/s43621-025-01149-1" TargetMode="External"/><Relationship Id="rId1" Type="http://schemas.openxmlformats.org/officeDocument/2006/relationships/slideLayout" Target="../slideLayouts/slideLayout2.xml"/><Relationship Id="rId6" Type="http://schemas.openxmlformats.org/officeDocument/2006/relationships/hyperlink" Target="https://doi.org/10.1007/978-3-032-00793-3_25" TargetMode="External"/><Relationship Id="rId5" Type="http://schemas.openxmlformats.org/officeDocument/2006/relationships/hyperlink" Target="https://doi.org/10.1007/978-3-032-09044-7_19" TargetMode="External"/><Relationship Id="rId4" Type="http://schemas.openxmlformats.org/officeDocument/2006/relationships/hyperlink" Target="https://doi.org/10.1007/978-3-032-25038-4_5"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doi.org/10.1007/s11042-026-21895-2" TargetMode="External"/><Relationship Id="rId7" Type="http://schemas.openxmlformats.org/officeDocument/2006/relationships/image" Target="../media/image3.png"/><Relationship Id="rId2" Type="http://schemas.openxmlformats.org/officeDocument/2006/relationships/hyperlink" Target="https://doi.org/10.1007/978-3-032-04203-3_6" TargetMode="External"/><Relationship Id="rId1" Type="http://schemas.openxmlformats.org/officeDocument/2006/relationships/slideLayout" Target="../slideLayouts/slideLayout2.xml"/><Relationship Id="rId6" Type="http://schemas.openxmlformats.org/officeDocument/2006/relationships/hyperlink" Target="https://doi.org/10.1007/978-3-032-19529-6_16" TargetMode="External"/><Relationship Id="rId5" Type="http://schemas.openxmlformats.org/officeDocument/2006/relationships/hyperlink" Target="https://doi.org/10.1007/978-981-96-9083-1_15" TargetMode="External"/><Relationship Id="rId4" Type="http://schemas.openxmlformats.org/officeDocument/2006/relationships/hyperlink" Target="https://doi.org/10.1007/978-3-032-10667-4_1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6621E-B676-8835-1AA1-20AB7B739279}"/>
              </a:ext>
            </a:extLst>
          </p:cNvPr>
          <p:cNvSpPr>
            <a:spLocks noGrp="1"/>
          </p:cNvSpPr>
          <p:nvPr>
            <p:ph type="ctrTitle" idx="4294967295"/>
          </p:nvPr>
        </p:nvSpPr>
        <p:spPr>
          <a:xfrm>
            <a:off x="178676" y="1565274"/>
            <a:ext cx="11845158" cy="5126640"/>
          </a:xfrm>
          <a:effectLst>
            <a:glow rad="101600">
              <a:schemeClr val="accent2">
                <a:satMod val="175000"/>
                <a:alpha val="40000"/>
              </a:schemeClr>
            </a:glow>
            <a:innerShdw blurRad="63500" dist="50800" dir="16200000">
              <a:prstClr val="black">
                <a:alpha val="50000"/>
              </a:prstClr>
            </a:innerShdw>
          </a:effectLst>
        </p:spPr>
        <p:txBody>
          <a:bodyPr>
            <a:normAutofit fontScale="90000"/>
          </a:bodyPr>
          <a:lstStyle/>
          <a:p>
            <a:pPr algn="ct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r>
              <a:rPr lang="en-US" sz="4400" b="1" dirty="0">
                <a:solidFill>
                  <a:srgbClr val="0B6E4F"/>
                </a:solidFill>
                <a:latin typeface="Times New Roman"/>
                <a:cs typeface="Times New Roman"/>
              </a:rPr>
              <a:t>Deep Learning-Based Classification of Tomato Leaf Diseases Using CNN</a:t>
            </a:r>
            <a:br>
              <a:rPr lang="en-US" b="1" dirty="0">
                <a:latin typeface="Times New Roman" panose="02020603050405020304" pitchFamily="18" charset="0"/>
                <a:cs typeface="Times New Roman" panose="02020603050405020304" pitchFamily="18" charset="0"/>
              </a:rPr>
            </a:br>
            <a:br>
              <a:rPr lang="en-US" sz="2700" b="1" dirty="0">
                <a:latin typeface="Times New Roman" panose="02020603050405020304" pitchFamily="18" charset="0"/>
                <a:cs typeface="Times New Roman" panose="02020603050405020304" pitchFamily="18" charset="0"/>
              </a:rPr>
            </a:br>
            <a:r>
              <a:rPr lang="en-US" sz="2700" b="1" dirty="0">
                <a:solidFill>
                  <a:srgbClr val="0B6E4F"/>
                </a:solidFill>
                <a:latin typeface="Times New Roman"/>
                <a:cs typeface="Times New Roman"/>
              </a:rPr>
              <a:t>Presented by</a:t>
            </a:r>
            <a:br>
              <a:rPr lang="en-US" sz="2700" b="1" dirty="0">
                <a:latin typeface="Times New Roman" panose="02020603050405020304" pitchFamily="18" charset="0"/>
                <a:cs typeface="Times New Roman" panose="02020603050405020304" pitchFamily="18" charset="0"/>
              </a:rPr>
            </a:br>
            <a:r>
              <a:rPr lang="en-US" sz="2700" b="1" dirty="0">
                <a:solidFill>
                  <a:srgbClr val="0B6E4F"/>
                </a:solidFill>
                <a:latin typeface="Times New Roman"/>
                <a:cs typeface="Times New Roman"/>
              </a:rPr>
              <a:t>Abhijeet Tukaram </a:t>
            </a:r>
            <a:r>
              <a:rPr lang="en-US" sz="2700" b="1" dirty="0" err="1">
                <a:solidFill>
                  <a:srgbClr val="0B6E4F"/>
                </a:solidFill>
                <a:latin typeface="Times New Roman"/>
                <a:cs typeface="Times New Roman"/>
              </a:rPr>
              <a:t>Kangane</a:t>
            </a:r>
            <a:br>
              <a:rPr lang="en-US" sz="2700" b="1" dirty="0">
                <a:latin typeface="Times New Roman" panose="02020603050405020304" pitchFamily="18" charset="0"/>
                <a:cs typeface="Times New Roman" panose="02020603050405020304" pitchFamily="18" charset="0"/>
              </a:rPr>
            </a:br>
            <a:r>
              <a:rPr lang="en-US" sz="2700" b="1" dirty="0">
                <a:solidFill>
                  <a:srgbClr val="0B6E4F"/>
                </a:solidFill>
                <a:latin typeface="Times New Roman"/>
                <a:cs typeface="Times New Roman"/>
              </a:rPr>
              <a:t>Roll No- 38 </a:t>
            </a:r>
            <a:br>
              <a:rPr lang="en-US" sz="36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r>
              <a:rPr lang="en-US" sz="2700" b="1" dirty="0">
                <a:solidFill>
                  <a:srgbClr val="0B6E4F"/>
                </a:solidFill>
                <a:latin typeface="Times New Roman"/>
                <a:cs typeface="Times New Roman"/>
              </a:rPr>
              <a:t>Under the guidance of</a:t>
            </a:r>
            <a:br>
              <a:rPr lang="en-US" sz="2700" b="1" dirty="0">
                <a:latin typeface="Times New Roman" panose="02020603050405020304" pitchFamily="18" charset="0"/>
                <a:cs typeface="Times New Roman" panose="02020603050405020304" pitchFamily="18" charset="0"/>
              </a:rPr>
            </a:br>
            <a:r>
              <a:rPr lang="en-US" sz="2700" b="1" dirty="0">
                <a:solidFill>
                  <a:srgbClr val="0B6E4F"/>
                </a:solidFill>
                <a:latin typeface="Times New Roman"/>
                <a:cs typeface="Times New Roman"/>
              </a:rPr>
              <a:t>Prof. Suvarna Phule</a:t>
            </a: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sz="4000" dirty="0"/>
            </a:br>
            <a:r>
              <a:rPr lang="en-US" sz="1800" b="1" dirty="0">
                <a:solidFill>
                  <a:srgbClr val="0B6E4F"/>
                </a:solidFill>
                <a:latin typeface="Times New Roman"/>
                <a:cs typeface="Times New Roman"/>
              </a:rPr>
              <a:t>REVIEW DATE </a:t>
            </a:r>
            <a:r>
              <a:rPr lang="en-US" sz="1800" dirty="0">
                <a:latin typeface="Times New Roman"/>
                <a:cs typeface="Times New Roman"/>
              </a:rPr>
              <a:t>		  								</a:t>
            </a:r>
            <a:r>
              <a:rPr lang="en-US" sz="1800" b="1" dirty="0">
                <a:solidFill>
                  <a:srgbClr val="0B6E4F"/>
                </a:solidFill>
                <a:latin typeface="Times New Roman"/>
                <a:cs typeface="Times New Roman"/>
              </a:rPr>
              <a:t> PAGE NO </a:t>
            </a:r>
            <a:r>
              <a:rPr lang="en-US" sz="4000" dirty="0"/>
              <a:t>								</a:t>
            </a:r>
            <a:br>
              <a:rPr lang="en-US" sz="4000" dirty="0"/>
            </a:br>
            <a:br>
              <a:rPr lang="en-US" b="1" dirty="0">
                <a:latin typeface="Times New Roman" panose="02020603050405020304" pitchFamily="18" charset="0"/>
                <a:cs typeface="Times New Roman" panose="02020603050405020304" pitchFamily="18" charset="0"/>
              </a:rPr>
            </a:br>
            <a:endParaRPr lang="en-IN" b="1" dirty="0">
              <a:solidFill>
                <a:srgbClr val="0B6E4F"/>
              </a:solidFill>
              <a:latin typeface="Times New Roman" panose="02020603050405020304" pitchFamily="18" charset="0"/>
              <a:cs typeface="Times New Roman" panose="02020603050405020304" pitchFamily="18" charset="0"/>
            </a:endParaRPr>
          </a:p>
        </p:txBody>
      </p:sp>
      <p:pic>
        <p:nvPicPr>
          <p:cNvPr id="2050" name="Picture 6">
            <a:extLst>
              <a:ext uri="{FF2B5EF4-FFF2-40B4-BE49-F238E27FC236}">
                <a16:creationId xmlns:a16="http://schemas.microsoft.com/office/drawing/2014/main" id="{73473926-B9AF-FFF8-6430-781BD8E0C1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676" y="166086"/>
            <a:ext cx="1040091" cy="952149"/>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49216AEF-DC44-50DD-1BC0-FAB44AC11E8E}"/>
              </a:ext>
            </a:extLst>
          </p:cNvPr>
          <p:cNvCxnSpPr/>
          <p:nvPr/>
        </p:nvCxnSpPr>
        <p:spPr>
          <a:xfrm flipV="1">
            <a:off x="773430" y="1565275"/>
            <a:ext cx="6296660" cy="8255"/>
          </a:xfrm>
          <a:prstGeom prst="line">
            <a:avLst/>
          </a:prstGeom>
          <a:ln w="28575"/>
        </p:spPr>
        <p:style>
          <a:lnRef idx="1">
            <a:schemeClr val="dk1"/>
          </a:lnRef>
          <a:fillRef idx="0">
            <a:schemeClr val="dk1"/>
          </a:fillRef>
          <a:effectRef idx="0">
            <a:schemeClr val="dk1"/>
          </a:effectRef>
          <a:fontRef idx="minor">
            <a:schemeClr val="tx1"/>
          </a:fontRef>
        </p:style>
      </p:cxnSp>
      <p:sp>
        <p:nvSpPr>
          <p:cNvPr id="5" name="Rectangle 3">
            <a:extLst>
              <a:ext uri="{FF2B5EF4-FFF2-40B4-BE49-F238E27FC236}">
                <a16:creationId xmlns:a16="http://schemas.microsoft.com/office/drawing/2014/main" id="{ABD4EF3C-0DEF-F724-FA7A-A2ED0BE9921F}"/>
              </a:ext>
            </a:extLst>
          </p:cNvPr>
          <p:cNvSpPr>
            <a:spLocks noChangeArrowheads="1"/>
          </p:cNvSpPr>
          <p:nvPr/>
        </p:nvSpPr>
        <p:spPr bwMode="auto">
          <a:xfrm>
            <a:off x="6003634"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algn="ctr"/>
            <a:endParaRPr lang="en-IN"/>
          </a:p>
        </p:txBody>
      </p:sp>
      <p:sp>
        <p:nvSpPr>
          <p:cNvPr id="6" name="Rectangle 4">
            <a:extLst>
              <a:ext uri="{FF2B5EF4-FFF2-40B4-BE49-F238E27FC236}">
                <a16:creationId xmlns:a16="http://schemas.microsoft.com/office/drawing/2014/main" id="{B1C1B09A-416D-028C-F108-81DD9C8525BA}"/>
              </a:ext>
            </a:extLst>
          </p:cNvPr>
          <p:cNvSpPr>
            <a:spLocks noChangeArrowheads="1"/>
          </p:cNvSpPr>
          <p:nvPr/>
        </p:nvSpPr>
        <p:spPr bwMode="auto">
          <a:xfrm>
            <a:off x="2578627" y="120000"/>
            <a:ext cx="7034746" cy="1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SHALAKA FOU</a:t>
            </a:r>
            <a:r>
              <a:rPr kumimoji="0" lang="en-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a:t>
            </a: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DATION’S</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ts val="600"/>
              </a:spcBef>
              <a:spcAft>
                <a:spcPct val="0"/>
              </a:spcAft>
              <a:buClrTx/>
              <a:buSzTx/>
              <a:buFontTx/>
              <a:buNone/>
              <a:tabLst/>
            </a:pPr>
            <a:r>
              <a:rPr kumimoji="0" lang="sa-IN" altLang="en-US" sz="2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KEYSTONE SCHOOL OF ENGINEERING</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6EEBE2CA-426F-8A9C-C59E-7F29AC7C7DF2}"/>
              </a:ext>
            </a:extLst>
          </p:cNvPr>
          <p:cNvSpPr>
            <a:spLocks noChangeArrowheads="1"/>
          </p:cNvSpPr>
          <p:nvPr/>
        </p:nvSpPr>
        <p:spPr bwMode="auto">
          <a:xfrm>
            <a:off x="3419401" y="958334"/>
            <a:ext cx="535319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sa-IN"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DEPARTMENT OF COMPUTER ENGINEERING </a:t>
            </a:r>
            <a:endParaRPr kumimoji="0" lang="sa-IN" altLang="en-US" sz="2400" b="0" i="0" u="none" strike="noStrike" cap="none" normalizeH="0" baseline="0" dirty="0">
              <a:ln>
                <a:noFill/>
              </a:ln>
              <a:solidFill>
                <a:schemeClr val="tx1"/>
              </a:solidFill>
              <a:effectLst/>
              <a:latin typeface="Times New Roman" panose="02020603050405020304" pitchFamily="18" charset="0"/>
            </a:endParaRPr>
          </a:p>
        </p:txBody>
      </p:sp>
    </p:spTree>
    <p:extLst>
      <p:ext uri="{BB962C8B-B14F-4D97-AF65-F5344CB8AC3E}">
        <p14:creationId xmlns:p14="http://schemas.microsoft.com/office/powerpoint/2010/main" val="2624095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F9E6A119-C1DE-7829-7A53-B142531E3673}"/>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l="20863" r="20863"/>
          <a:stretch/>
        </p:blipFill>
        <p:spPr>
          <a:xfrm>
            <a:off x="6202837" y="0"/>
            <a:ext cx="5989163" cy="6858000"/>
          </a:xfrm>
        </p:spPr>
      </p:pic>
      <p:sp>
        <p:nvSpPr>
          <p:cNvPr id="4" name="Text Placeholder 3">
            <a:extLst>
              <a:ext uri="{FF2B5EF4-FFF2-40B4-BE49-F238E27FC236}">
                <a16:creationId xmlns:a16="http://schemas.microsoft.com/office/drawing/2014/main" id="{0410E7BA-3994-3741-9618-C06697968DC8}"/>
              </a:ext>
            </a:extLst>
          </p:cNvPr>
          <p:cNvSpPr>
            <a:spLocks noGrp="1"/>
          </p:cNvSpPr>
          <p:nvPr>
            <p:ph type="body" sz="half" idx="2"/>
          </p:nvPr>
        </p:nvSpPr>
        <p:spPr>
          <a:xfrm>
            <a:off x="75414" y="0"/>
            <a:ext cx="7483626" cy="6858000"/>
          </a:xfrm>
        </p:spPr>
        <p:txBody>
          <a:bodyPr>
            <a:normAutofit/>
          </a:bodyPr>
          <a:lstStyle/>
          <a:p>
            <a:endParaRPr lang="en-IN" dirty="0"/>
          </a:p>
          <a:p>
            <a:endParaRPr lang="en-IN" dirty="0"/>
          </a:p>
          <a:p>
            <a:endParaRPr lang="en-IN" dirty="0"/>
          </a:p>
          <a:p>
            <a:endParaRPr lang="en-IN" dirty="0"/>
          </a:p>
          <a:p>
            <a:pPr marL="285750" indent="-285750">
              <a:buClr>
                <a:schemeClr val="tx1"/>
              </a:buClr>
              <a:buFont typeface="Wingdings" panose="05000000000000000000" pitchFamily="2" charset="2"/>
              <a:buChar char="v"/>
            </a:pPr>
            <a:r>
              <a:rPr lang="en-IN" dirty="0">
                <a:latin typeface="Arial Black" panose="020B0A04020102020204" pitchFamily="34" charset="0"/>
              </a:rPr>
              <a:t>ABSTRACT</a:t>
            </a:r>
          </a:p>
          <a:p>
            <a:pPr>
              <a:buClr>
                <a:schemeClr val="tx1"/>
              </a:buClr>
            </a:pPr>
            <a:endParaRPr lang="en-IN" dirty="0">
              <a:latin typeface="Arial Black" panose="020B0A04020102020204" pitchFamily="34" charset="0"/>
            </a:endParaRPr>
          </a:p>
          <a:p>
            <a:pPr marL="285750" indent="-285750">
              <a:buClr>
                <a:schemeClr val="tx1"/>
              </a:buClr>
              <a:buFont typeface="Wingdings" panose="05000000000000000000" pitchFamily="2" charset="2"/>
              <a:buChar char="v"/>
            </a:pPr>
            <a:r>
              <a:rPr lang="en-IN" dirty="0">
                <a:latin typeface="Arial Black" panose="020B0A04020102020204" pitchFamily="34" charset="0"/>
              </a:rPr>
              <a:t>INTRODUCTION</a:t>
            </a:r>
          </a:p>
          <a:p>
            <a:pPr marL="285750" indent="-285750">
              <a:buClr>
                <a:schemeClr val="tx1"/>
              </a:buClr>
              <a:buFont typeface="Wingdings" panose="05000000000000000000" pitchFamily="2" charset="2"/>
              <a:buChar char="v"/>
            </a:pPr>
            <a:endParaRPr lang="en-IN" dirty="0">
              <a:latin typeface="Arial Black" panose="020B0A04020102020204" pitchFamily="34" charset="0"/>
            </a:endParaRPr>
          </a:p>
          <a:p>
            <a:pPr marL="285750" indent="-285750">
              <a:buClr>
                <a:schemeClr val="tx1"/>
              </a:buClr>
              <a:buFont typeface="Wingdings" panose="05000000000000000000" pitchFamily="2" charset="2"/>
              <a:buChar char="v"/>
            </a:pPr>
            <a:r>
              <a:rPr lang="en-IN" dirty="0">
                <a:latin typeface="Arial Black" panose="020B0A04020102020204" pitchFamily="34" charset="0"/>
              </a:rPr>
              <a:t>LITERATURE SURVEY</a:t>
            </a:r>
          </a:p>
          <a:p>
            <a:pPr>
              <a:buClr>
                <a:schemeClr val="tx1"/>
              </a:buClr>
            </a:pPr>
            <a:endParaRPr lang="en-IN" dirty="0">
              <a:latin typeface="Arial Black" panose="020B0A04020102020204" pitchFamily="34" charset="0"/>
            </a:endParaRPr>
          </a:p>
          <a:p>
            <a:pPr marL="285750" indent="-285750">
              <a:buClr>
                <a:schemeClr val="tx1"/>
              </a:buClr>
              <a:buFont typeface="Wingdings" panose="05000000000000000000" pitchFamily="2" charset="2"/>
              <a:buChar char="v"/>
            </a:pPr>
            <a:r>
              <a:rPr lang="en-IN" dirty="0">
                <a:latin typeface="Arial Black" panose="020B0A04020102020204" pitchFamily="34" charset="0"/>
              </a:rPr>
              <a:t>METHODOLOGY</a:t>
            </a:r>
          </a:p>
          <a:p>
            <a:pPr marL="285750" indent="-285750">
              <a:buClr>
                <a:schemeClr val="tx1"/>
              </a:buClr>
              <a:buFont typeface="Wingdings" panose="05000000000000000000" pitchFamily="2" charset="2"/>
              <a:buChar char="v"/>
            </a:pPr>
            <a:endParaRPr lang="en-IN" dirty="0">
              <a:latin typeface="Arial Black" panose="020B0A04020102020204" pitchFamily="34" charset="0"/>
            </a:endParaRPr>
          </a:p>
          <a:p>
            <a:pPr marL="285750" indent="-285750">
              <a:buClr>
                <a:schemeClr val="tx1"/>
              </a:buClr>
              <a:buFont typeface="Wingdings" panose="05000000000000000000" pitchFamily="2" charset="2"/>
              <a:buChar char="v"/>
            </a:pPr>
            <a:r>
              <a:rPr lang="en-IN" dirty="0">
                <a:latin typeface="Arial Black" panose="020B0A04020102020204" pitchFamily="34" charset="0"/>
              </a:rPr>
              <a:t>RESULT ANALYSIS</a:t>
            </a:r>
          </a:p>
          <a:p>
            <a:pPr>
              <a:buClr>
                <a:schemeClr val="tx1"/>
              </a:buClr>
            </a:pPr>
            <a:endParaRPr lang="en-IN" dirty="0">
              <a:latin typeface="Arial Black" panose="020B0A04020102020204" pitchFamily="34" charset="0"/>
            </a:endParaRPr>
          </a:p>
          <a:p>
            <a:pPr marL="285750" indent="-285750">
              <a:buClr>
                <a:schemeClr val="tx1"/>
              </a:buClr>
              <a:buFont typeface="Wingdings" panose="05000000000000000000" pitchFamily="2" charset="2"/>
              <a:buChar char="v"/>
            </a:pPr>
            <a:r>
              <a:rPr lang="en-IN" dirty="0">
                <a:latin typeface="Arial Black" panose="020B0A04020102020204" pitchFamily="34" charset="0"/>
              </a:rPr>
              <a:t>CONCLUSION</a:t>
            </a:r>
          </a:p>
          <a:p>
            <a:pPr marL="285750" indent="-285750">
              <a:buClr>
                <a:schemeClr val="tx1"/>
              </a:buClr>
              <a:buFont typeface="Wingdings" panose="05000000000000000000" pitchFamily="2" charset="2"/>
              <a:buChar char="v"/>
            </a:pPr>
            <a:endParaRPr lang="en-IN" dirty="0">
              <a:latin typeface="Arial Black" panose="020B0A04020102020204" pitchFamily="34" charset="0"/>
            </a:endParaRPr>
          </a:p>
          <a:p>
            <a:pPr marL="285750" indent="-285750">
              <a:buClr>
                <a:schemeClr val="tx1"/>
              </a:buClr>
              <a:buFont typeface="Wingdings" panose="05000000000000000000" pitchFamily="2" charset="2"/>
              <a:buChar char="v"/>
            </a:pPr>
            <a:r>
              <a:rPr lang="en-IN" dirty="0">
                <a:latin typeface="Arial Black" panose="020B0A04020102020204" pitchFamily="34" charset="0"/>
              </a:rPr>
              <a:t>FUTURE SCOPE</a:t>
            </a:r>
          </a:p>
          <a:p>
            <a:pPr marL="285750" indent="-285750">
              <a:buClr>
                <a:schemeClr val="tx1"/>
              </a:buClr>
              <a:buFont typeface="Wingdings" panose="05000000000000000000" pitchFamily="2" charset="2"/>
              <a:buChar char="v"/>
            </a:pPr>
            <a:endParaRPr lang="en-IN" dirty="0">
              <a:latin typeface="Arial Black" panose="020B0A04020102020204" pitchFamily="34" charset="0"/>
            </a:endParaRPr>
          </a:p>
          <a:p>
            <a:pPr marL="285750" indent="-285750">
              <a:buClr>
                <a:schemeClr val="tx1"/>
              </a:buClr>
              <a:buFont typeface="Wingdings" panose="05000000000000000000" pitchFamily="2" charset="2"/>
              <a:buChar char="v"/>
            </a:pPr>
            <a:endParaRPr lang="en-IN" dirty="0"/>
          </a:p>
          <a:p>
            <a:pPr marL="285750" indent="-285750">
              <a:buClr>
                <a:schemeClr val="tx1"/>
              </a:buClr>
              <a:buFont typeface="Wingdings" panose="05000000000000000000" pitchFamily="2" charset="2"/>
              <a:buChar char="v"/>
            </a:pPr>
            <a:endParaRPr lang="en-IN" dirty="0"/>
          </a:p>
        </p:txBody>
      </p:sp>
      <p:sp>
        <p:nvSpPr>
          <p:cNvPr id="2" name="Rectangle 4">
            <a:extLst>
              <a:ext uri="{FF2B5EF4-FFF2-40B4-BE49-F238E27FC236}">
                <a16:creationId xmlns:a16="http://schemas.microsoft.com/office/drawing/2014/main" id="{0C1E7DC9-C249-A6A6-9A1B-95BFBB1F2FE8}"/>
              </a:ext>
            </a:extLst>
          </p:cNvPr>
          <p:cNvSpPr>
            <a:spLocks noChangeArrowheads="1"/>
          </p:cNvSpPr>
          <p:nvPr/>
        </p:nvSpPr>
        <p:spPr bwMode="auto">
          <a:xfrm>
            <a:off x="2578627" y="120000"/>
            <a:ext cx="7034746" cy="1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sa-IN" altLang="en-US" sz="1200" b="1" i="0" u="none" strike="noStrike" cap="none" normalizeH="0" baseline="0" dirty="0">
                <a:ln>
                  <a:noFill/>
                </a:ln>
                <a:effectLst/>
                <a:latin typeface="Times New Roman" panose="02020603050405020304" pitchFamily="18" charset="0"/>
                <a:ea typeface="Calibri" panose="020F0502020204030204" pitchFamily="34" charset="0"/>
                <a:cs typeface="Mangal" panose="02040503050203030202" pitchFamily="18" charset="0"/>
              </a:rPr>
              <a:t>SHALAKA FOU</a:t>
            </a:r>
            <a:r>
              <a:rPr kumimoji="0" lang="en-IN" altLang="en-US" sz="1200" b="1" i="0" u="none" strike="noStrike" cap="none" normalizeH="0" baseline="0" dirty="0">
                <a:ln>
                  <a:noFill/>
                </a:ln>
                <a:effectLst/>
                <a:latin typeface="Times New Roman" panose="02020603050405020304" pitchFamily="18" charset="0"/>
                <a:ea typeface="Calibri" panose="020F0502020204030204" pitchFamily="34" charset="0"/>
                <a:cs typeface="Times New Roman" panose="02020603050405020304" pitchFamily="18" charset="0"/>
              </a:rPr>
              <a:t>N</a:t>
            </a:r>
            <a:r>
              <a:rPr kumimoji="0" lang="sa-IN" altLang="en-US" sz="1200" b="1" i="0" u="none" strike="noStrike" cap="none" normalizeH="0" baseline="0" dirty="0">
                <a:ln>
                  <a:noFill/>
                </a:ln>
                <a:effectLst/>
                <a:latin typeface="Times New Roman" panose="02020603050405020304" pitchFamily="18" charset="0"/>
                <a:ea typeface="Calibri" panose="020F0502020204030204" pitchFamily="34" charset="0"/>
                <a:cs typeface="Mangal" panose="02040503050203030202" pitchFamily="18" charset="0"/>
              </a:rPr>
              <a:t>DATION’S</a:t>
            </a:r>
            <a:endParaRPr kumimoji="0" lang="en-US" altLang="en-US" sz="105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ts val="600"/>
              </a:spcBef>
              <a:spcAft>
                <a:spcPct val="0"/>
              </a:spcAft>
              <a:buClrTx/>
              <a:buSzTx/>
              <a:buFontTx/>
              <a:buNone/>
              <a:tabLst/>
            </a:pPr>
            <a:r>
              <a:rPr kumimoji="0" lang="sa-IN" altLang="en-US" sz="2800" b="1" i="0" u="none" strike="noStrike" cap="none" normalizeH="0" baseline="0" dirty="0">
                <a:ln>
                  <a:noFill/>
                </a:ln>
                <a:effectLst/>
                <a:latin typeface="Times New Roman" panose="02020603050405020304" pitchFamily="18" charset="0"/>
                <a:ea typeface="Calibri" panose="020F0502020204030204" pitchFamily="34" charset="0"/>
                <a:cs typeface="Mangal" panose="02040503050203030202" pitchFamily="18" charset="0"/>
              </a:rPr>
              <a:t>KEYSTONE SCHOOL OF ENGINEERING</a:t>
            </a:r>
            <a:endParaRPr kumimoji="0" lang="en-US" altLang="en-US" sz="10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effectLst/>
              <a:latin typeface="Arial" panose="020B0604020202020204" pitchFamily="34" charset="0"/>
            </a:endParaRPr>
          </a:p>
        </p:txBody>
      </p:sp>
      <p:pic>
        <p:nvPicPr>
          <p:cNvPr id="3" name="Picture 6">
            <a:extLst>
              <a:ext uri="{FF2B5EF4-FFF2-40B4-BE49-F238E27FC236}">
                <a16:creationId xmlns:a16="http://schemas.microsoft.com/office/drawing/2014/main" id="{7B8AC452-D12F-366D-39A1-EA8120A23C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676" y="166086"/>
            <a:ext cx="1040091" cy="952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5930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randombar(horizontal)">
                                      <p:cBhvr>
                                        <p:cTn id="7" dur="500"/>
                                        <p:tgtEl>
                                          <p:spTgt spid="4">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randombar(horizontal)">
                                      <p:cBhvr>
                                        <p:cTn id="12" dur="500"/>
                                        <p:tgtEl>
                                          <p:spTgt spid="4">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animEffect transition="in" filter="randombar(horizontal)">
                                      <p:cBhvr>
                                        <p:cTn id="17" dur="500"/>
                                        <p:tgtEl>
                                          <p:spTgt spid="4">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4">
                                            <p:txEl>
                                              <p:pRg st="10" end="10"/>
                                            </p:txEl>
                                          </p:spTgt>
                                        </p:tgtEl>
                                        <p:attrNameLst>
                                          <p:attrName>style.visibility</p:attrName>
                                        </p:attrNameLst>
                                      </p:cBhvr>
                                      <p:to>
                                        <p:strVal val="visible"/>
                                      </p:to>
                                    </p:set>
                                    <p:animEffect transition="in" filter="randombar(horizontal)">
                                      <p:cBhvr>
                                        <p:cTn id="22" dur="500"/>
                                        <p:tgtEl>
                                          <p:spTgt spid="4">
                                            <p:txEl>
                                              <p:pRg st="10" end="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4">
                                            <p:txEl>
                                              <p:pRg st="12" end="12"/>
                                            </p:txEl>
                                          </p:spTgt>
                                        </p:tgtEl>
                                        <p:attrNameLst>
                                          <p:attrName>style.visibility</p:attrName>
                                        </p:attrNameLst>
                                      </p:cBhvr>
                                      <p:to>
                                        <p:strVal val="visible"/>
                                      </p:to>
                                    </p:set>
                                    <p:animEffect transition="in" filter="randombar(horizontal)">
                                      <p:cBhvr>
                                        <p:cTn id="27" dur="500"/>
                                        <p:tgtEl>
                                          <p:spTgt spid="4">
                                            <p:txEl>
                                              <p:pRg st="12" end="1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4">
                                            <p:txEl>
                                              <p:pRg st="14" end="14"/>
                                            </p:txEl>
                                          </p:spTgt>
                                        </p:tgtEl>
                                        <p:attrNameLst>
                                          <p:attrName>style.visibility</p:attrName>
                                        </p:attrNameLst>
                                      </p:cBhvr>
                                      <p:to>
                                        <p:strVal val="visible"/>
                                      </p:to>
                                    </p:set>
                                    <p:animEffect transition="in" filter="randombar(horizontal)">
                                      <p:cBhvr>
                                        <p:cTn id="32" dur="500"/>
                                        <p:tgtEl>
                                          <p:spTgt spid="4">
                                            <p:txEl>
                                              <p:pRg st="14" end="1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4">
                                            <p:txEl>
                                              <p:pRg st="16" end="16"/>
                                            </p:txEl>
                                          </p:spTgt>
                                        </p:tgtEl>
                                        <p:attrNameLst>
                                          <p:attrName>style.visibility</p:attrName>
                                        </p:attrNameLst>
                                      </p:cBhvr>
                                      <p:to>
                                        <p:strVal val="visible"/>
                                      </p:to>
                                    </p:set>
                                    <p:animEffect transition="in" filter="randombar(horizontal)">
                                      <p:cBhvr>
                                        <p:cTn id="37" dur="500"/>
                                        <p:tgtEl>
                                          <p:spTgt spid="4">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A8DC1-F37B-915B-8B9F-E76690C650C5}"/>
              </a:ext>
            </a:extLst>
          </p:cNvPr>
          <p:cNvSpPr>
            <a:spLocks noGrp="1"/>
          </p:cNvSpPr>
          <p:nvPr>
            <p:ph type="title"/>
          </p:nvPr>
        </p:nvSpPr>
        <p:spPr>
          <a:xfrm>
            <a:off x="0" y="1187669"/>
            <a:ext cx="12002814" cy="1293028"/>
          </a:xfrm>
        </p:spPr>
        <p:txBody>
          <a:bodyPr/>
          <a:lstStyle/>
          <a:p>
            <a:pPr algn="ctr"/>
            <a:r>
              <a:rPr lang="en-IN" b="1" dirty="0">
                <a:latin typeface="Arial Black" panose="020B0A04020102020204" pitchFamily="34" charset="0"/>
              </a:rPr>
              <a:t>ABSTRACT</a:t>
            </a:r>
          </a:p>
        </p:txBody>
      </p:sp>
      <p:sp>
        <p:nvSpPr>
          <p:cNvPr id="7" name="Rectangle 3">
            <a:extLst>
              <a:ext uri="{FF2B5EF4-FFF2-40B4-BE49-F238E27FC236}">
                <a16:creationId xmlns:a16="http://schemas.microsoft.com/office/drawing/2014/main" id="{A6684E7E-B420-DB3D-E543-908F2418104D}"/>
              </a:ext>
            </a:extLst>
          </p:cNvPr>
          <p:cNvSpPr>
            <a:spLocks noGrp="1" noChangeArrowheads="1"/>
          </p:cNvSpPr>
          <p:nvPr>
            <p:ph idx="1"/>
          </p:nvPr>
        </p:nvSpPr>
        <p:spPr bwMode="auto">
          <a:xfrm>
            <a:off x="609600" y="2350000"/>
            <a:ext cx="10972800" cy="4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Autofit/>
          </a:bodyPr>
          <a:lstStyle/>
          <a:p>
            <a:pPr>
              <a:buFont typeface="Arial"/>
              <a:buChar char="•"/>
            </a:pPr>
            <a:r>
              <a:rPr lang="en-US" sz="2000" dirty="0">
                <a:latin typeface="Times New Roman"/>
                <a:ea typeface="+mn-lt"/>
                <a:cs typeface="Times New Roman"/>
              </a:rPr>
              <a:t>Tomato crops are often affected by leaf diseases, and manual diagnosis is slow and requires expert knowledge. This seminar presents an automatic system that classifies tomato leaf diseases from images using a Convolutional Neural Network (CNN). The model uses MobileNetV2, pre-trained on ImageNet, with transfer learning in two phases: first, only the new classification layers are trained, and then the last 40 layers of the network are fine-tuned. Because the dataset is imbalanced, class-weighted training is used so that rare diseases get more attention. The model is trained and tested on the </a:t>
            </a:r>
            <a:r>
              <a:rPr lang="en-US" sz="2000" dirty="0" err="1">
                <a:latin typeface="Times New Roman"/>
                <a:ea typeface="+mn-lt"/>
                <a:cs typeface="Times New Roman"/>
              </a:rPr>
              <a:t>PlantVillage</a:t>
            </a:r>
            <a:r>
              <a:rPr lang="en-US" sz="2000" dirty="0">
                <a:latin typeface="Times New Roman"/>
                <a:ea typeface="+mn-lt"/>
                <a:cs typeface="Times New Roman"/>
              </a:rPr>
              <a:t> dataset, which has 18,160 images in 10 classes (nine diseases and one healthy class), split 80:20 for training and validation. The model achieves 93.86% training accuracy and 92.15% validation accuracy. The small gap between the two shows that the model generalizes well without overfitting. Class weighting also improved recall on rare classes, such as Tomato Mosaic Virus (0.97). These results show that a lightweight CNN can support quick, low-cost disease detection in agriculture.</a:t>
            </a:r>
            <a:endParaRPr lang="en-US" sz="2000">
              <a:latin typeface="Times New Roman"/>
              <a:cs typeface="Times New Roman"/>
            </a:endParaRPr>
          </a:p>
          <a:p>
            <a:pPr>
              <a:buFont typeface="Arial"/>
              <a:buChar char="•"/>
            </a:pPr>
            <a:r>
              <a:rPr lang="en-US" sz="2000" b="1" dirty="0">
                <a:latin typeface="Times New Roman"/>
                <a:ea typeface="+mn-lt"/>
                <a:cs typeface="Times New Roman"/>
              </a:rPr>
              <a:t>Keywords:</a:t>
            </a:r>
            <a:r>
              <a:rPr lang="en-US" sz="2000" dirty="0">
                <a:latin typeface="Times New Roman"/>
                <a:ea typeface="+mn-lt"/>
                <a:cs typeface="Times New Roman"/>
              </a:rPr>
              <a:t> CNN, Transfer Learning, Tomato Leaf Disease, Class Imbalance, </a:t>
            </a:r>
            <a:r>
              <a:rPr lang="en-US" sz="2000" dirty="0" err="1">
                <a:latin typeface="Times New Roman"/>
                <a:ea typeface="+mn-lt"/>
                <a:cs typeface="Times New Roman"/>
              </a:rPr>
              <a:t>PlantVillage</a:t>
            </a:r>
            <a:r>
              <a:rPr lang="en-US" sz="2000" dirty="0">
                <a:latin typeface="Times New Roman"/>
                <a:ea typeface="+mn-lt"/>
                <a:cs typeface="Times New Roman"/>
              </a:rPr>
              <a:t> Dataset</a:t>
            </a:r>
            <a:endParaRPr lang="en-US">
              <a:latin typeface="Times New Roman"/>
              <a:cs typeface="Times New Roman"/>
            </a:endParaRPr>
          </a:p>
          <a:p>
            <a:pPr>
              <a:lnSpc>
                <a:spcPct val="100000"/>
              </a:lnSpc>
              <a:spcBef>
                <a:spcPct val="45000"/>
              </a:spcBef>
              <a:buFontTx/>
              <a:buChar char="•"/>
            </a:pPr>
            <a:endParaRPr lang="en-US" sz="2000" dirty="0">
              <a:latin typeface="Times New Roman"/>
              <a:cs typeface="Times New Roman"/>
            </a:endParaRPr>
          </a:p>
        </p:txBody>
      </p:sp>
      <p:sp>
        <p:nvSpPr>
          <p:cNvPr id="4" name="Rectangle 4">
            <a:extLst>
              <a:ext uri="{FF2B5EF4-FFF2-40B4-BE49-F238E27FC236}">
                <a16:creationId xmlns:a16="http://schemas.microsoft.com/office/drawing/2014/main" id="{AD85BA33-CCDC-E617-9D0F-1BBB7B93F366}"/>
              </a:ext>
            </a:extLst>
          </p:cNvPr>
          <p:cNvSpPr>
            <a:spLocks noChangeArrowheads="1"/>
          </p:cNvSpPr>
          <p:nvPr/>
        </p:nvSpPr>
        <p:spPr bwMode="auto">
          <a:xfrm>
            <a:off x="2578627" y="120000"/>
            <a:ext cx="7034746" cy="1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SHALAKA FOU</a:t>
            </a:r>
            <a:r>
              <a:rPr kumimoji="0" lang="en-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a:t>
            </a: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DATION’S</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ts val="600"/>
              </a:spcBef>
              <a:spcAft>
                <a:spcPct val="0"/>
              </a:spcAft>
              <a:buClrTx/>
              <a:buSzTx/>
              <a:buFontTx/>
              <a:buNone/>
              <a:tabLst/>
            </a:pPr>
            <a:r>
              <a:rPr kumimoji="0" lang="sa-IN" altLang="en-US" sz="2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KEYSTONE SCHOOL OF ENGINEERING</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6">
            <a:extLst>
              <a:ext uri="{FF2B5EF4-FFF2-40B4-BE49-F238E27FC236}">
                <a16:creationId xmlns:a16="http://schemas.microsoft.com/office/drawing/2014/main" id="{9599148C-E8B9-6B0B-349D-792D468DCA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676" y="166086"/>
            <a:ext cx="1040091" cy="952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290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A8DC1-F37B-915B-8B9F-E76690C650C5}"/>
              </a:ext>
            </a:extLst>
          </p:cNvPr>
          <p:cNvSpPr>
            <a:spLocks noGrp="1"/>
          </p:cNvSpPr>
          <p:nvPr>
            <p:ph type="title"/>
          </p:nvPr>
        </p:nvSpPr>
        <p:spPr>
          <a:xfrm>
            <a:off x="1560786" y="1051035"/>
            <a:ext cx="8610600" cy="1293028"/>
          </a:xfrm>
        </p:spPr>
        <p:txBody>
          <a:bodyPr/>
          <a:lstStyle/>
          <a:p>
            <a:pPr algn="ctr"/>
            <a:r>
              <a:rPr lang="en-IN" b="1" dirty="0">
                <a:latin typeface="Arial Black" panose="020B0A04020102020204" pitchFamily="34" charset="0"/>
              </a:rPr>
              <a:t>INTRODUCTION</a:t>
            </a:r>
          </a:p>
        </p:txBody>
      </p:sp>
      <p:sp>
        <p:nvSpPr>
          <p:cNvPr id="7" name="Rectangle 3">
            <a:extLst>
              <a:ext uri="{FF2B5EF4-FFF2-40B4-BE49-F238E27FC236}">
                <a16:creationId xmlns:a16="http://schemas.microsoft.com/office/drawing/2014/main" id="{8379C91B-A325-A3CA-D350-CED7AB838640}"/>
              </a:ext>
            </a:extLst>
          </p:cNvPr>
          <p:cNvSpPr>
            <a:spLocks noGrp="1" noChangeArrowheads="1"/>
          </p:cNvSpPr>
          <p:nvPr>
            <p:ph idx="1"/>
          </p:nvPr>
        </p:nvSpPr>
        <p:spPr bwMode="auto">
          <a:xfrm>
            <a:off x="609600" y="2350000"/>
            <a:ext cx="6800000" cy="4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Autofit/>
          </a:bodyPr>
          <a:lstStyle/>
          <a:p>
            <a:pPr marL="228600" indent="-228600" algn="l">
              <a:lnSpc>
                <a:spcPct val="100000"/>
              </a:lnSpc>
              <a:spcBef>
                <a:spcPct val="45000"/>
              </a:spcBef>
              <a:buClrTx/>
              <a:buSzTx/>
              <a:buFontTx/>
              <a:buChar char="•"/>
            </a:pPr>
            <a:r>
              <a:rPr lang="en-US" sz="2000" b="0" dirty="0">
                <a:latin typeface="Times New Roman"/>
                <a:cs typeface="Times New Roman"/>
              </a:rPr>
              <a:t>Tomato plants easily catch leaf diseases caused by fungus, bacteria, or viruses (for example: early blight, late blight, bacterial spot, yellow leaf curl virus)</a:t>
            </a:r>
            <a:endParaRPr lang="en-US"/>
          </a:p>
          <a:p>
            <a:pPr marL="228600" indent="-228600" algn="l">
              <a:lnSpc>
                <a:spcPct val="100000"/>
              </a:lnSpc>
              <a:spcBef>
                <a:spcPct val="45000"/>
              </a:spcBef>
              <a:buClrTx/>
              <a:buSzTx/>
              <a:buFontTx/>
              <a:buChar char="•"/>
            </a:pPr>
            <a:r>
              <a:rPr lang="en-US" sz="2000" b="0" dirty="0">
                <a:latin typeface="Times New Roman"/>
                <a:cs typeface="Times New Roman"/>
              </a:rPr>
              <a:t>Checking diseases by eye is slow and needs expert knowledge that many farmers do not have</a:t>
            </a:r>
          </a:p>
          <a:p>
            <a:pPr marL="228600" indent="-228600" algn="l">
              <a:lnSpc>
                <a:spcPct val="100000"/>
              </a:lnSpc>
              <a:spcBef>
                <a:spcPct val="45000"/>
              </a:spcBef>
              <a:buClrTx/>
              <a:buSzTx/>
              <a:buFontTx/>
              <a:buChar char="•"/>
            </a:pPr>
            <a:r>
              <a:rPr lang="en-US" sz="2000" b="0" dirty="0">
                <a:latin typeface="Times New Roman"/>
                <a:cs typeface="Times New Roman"/>
              </a:rPr>
              <a:t>Deep learning (CNN models) can detect diseases from leaf images automatically, fast and accurately</a:t>
            </a:r>
          </a:p>
          <a:p>
            <a:pPr marL="228600" indent="-228600" algn="l">
              <a:lnSpc>
                <a:spcPct val="100000"/>
              </a:lnSpc>
              <a:spcBef>
                <a:spcPct val="45000"/>
              </a:spcBef>
              <a:buClrTx/>
              <a:buSzTx/>
              <a:buFontTx/>
              <a:buChar char="•"/>
            </a:pPr>
            <a:r>
              <a:rPr lang="en-US" sz="2000" b="0" dirty="0">
                <a:latin typeface="Times New Roman"/>
                <a:cs typeface="Times New Roman"/>
              </a:rPr>
              <a:t>Goal: build a simple, efficient CNN model that can identify 9 tomato diseases plus healthy leaves</a:t>
            </a:r>
          </a:p>
          <a:p>
            <a:pPr>
              <a:lnSpc>
                <a:spcPct val="100000"/>
              </a:lnSpc>
              <a:spcBef>
                <a:spcPct val="45000"/>
              </a:spcBef>
              <a:buFontTx/>
              <a:buChar char="•"/>
            </a:pPr>
            <a:r>
              <a:rPr lang="en-US" sz="2000" b="0" dirty="0">
                <a:latin typeface="Times New Roman"/>
                <a:cs typeface="Times New Roman"/>
              </a:rPr>
              <a:t>Method: use transfer learning and class-weighting to also handle uneven </a:t>
            </a:r>
            <a:r>
              <a:rPr lang="en-US" sz="2000" dirty="0">
                <a:latin typeface="Times New Roman"/>
                <a:cs typeface="Times New Roman"/>
              </a:rPr>
              <a:t>amounts of data for each disease</a:t>
            </a:r>
            <a:endParaRPr lang="en-US" sz="2000" b="0" dirty="0">
              <a:latin typeface="Times New Roman"/>
              <a:cs typeface="Times New Roman"/>
            </a:endParaRPr>
          </a:p>
        </p:txBody>
      </p:sp>
      <p:sp>
        <p:nvSpPr>
          <p:cNvPr id="3" name="Rectangle 4">
            <a:extLst>
              <a:ext uri="{FF2B5EF4-FFF2-40B4-BE49-F238E27FC236}">
                <a16:creationId xmlns:a16="http://schemas.microsoft.com/office/drawing/2014/main" id="{D729838C-B1BE-5E44-BA29-48C049B0963A}"/>
              </a:ext>
            </a:extLst>
          </p:cNvPr>
          <p:cNvSpPr>
            <a:spLocks noChangeArrowheads="1"/>
          </p:cNvSpPr>
          <p:nvPr/>
        </p:nvSpPr>
        <p:spPr bwMode="auto">
          <a:xfrm>
            <a:off x="2578627" y="120000"/>
            <a:ext cx="7034746" cy="1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SHALAKA FOU</a:t>
            </a:r>
            <a:r>
              <a:rPr kumimoji="0" lang="en-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a:t>
            </a: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DATION’S</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ts val="600"/>
              </a:spcBef>
              <a:spcAft>
                <a:spcPct val="0"/>
              </a:spcAft>
              <a:buClrTx/>
              <a:buSzTx/>
              <a:buFontTx/>
              <a:buNone/>
              <a:tabLst/>
            </a:pPr>
            <a:r>
              <a:rPr kumimoji="0" lang="sa-IN" altLang="en-US" sz="2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KEYSTONE SCHOOL OF ENGINEERING</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6">
            <a:extLst>
              <a:ext uri="{FF2B5EF4-FFF2-40B4-BE49-F238E27FC236}">
                <a16:creationId xmlns:a16="http://schemas.microsoft.com/office/drawing/2014/main" id="{B0BF5F59-0813-86A1-4414-5BB102803E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676" y="166086"/>
            <a:ext cx="1040091" cy="952149"/>
          </a:xfrm>
          <a:prstGeom prst="rect">
            <a:avLst/>
          </a:prstGeom>
          <a:noFill/>
          <a:extLst>
            <a:ext uri="{909E8E84-426E-40DD-AFC4-6F175D3DCCD1}">
              <a14:hiddenFill xmlns:a14="http://schemas.microsoft.com/office/drawing/2010/main">
                <a:solidFill>
                  <a:srgbClr val="FFFFFF"/>
                </a:solidFill>
              </a14:hiddenFill>
            </a:ext>
          </a:extLst>
        </p:spPr>
      </p:pic>
      <p:pic>
        <p:nvPicPr>
          <p:cNvPr id="50" name="Diseased Leaf"/>
          <p:cNvPicPr>
            <a:picLocks noChangeAspect="1"/>
          </p:cNvPicPr>
          <p:nvPr/>
        </p:nvPicPr>
        <p:blipFill>
          <a:blip r:embed="rId4"/>
          <a:stretch>
            <a:fillRect/>
          </a:stretch>
        </p:blipFill>
        <p:spPr>
          <a:xfrm>
            <a:off x="7700000" y="2500000"/>
            <a:ext cx="3800000" cy="3800000"/>
          </a:xfrm>
          <a:prstGeom prst="rect">
            <a:avLst/>
          </a:prstGeom>
          <a:ln w="19050">
            <a:solidFill>
              <a:srgbClr val="1F4E78"/>
            </a:solidFill>
          </a:ln>
        </p:spPr>
      </p:pic>
    </p:spTree>
    <p:extLst>
      <p:ext uri="{BB962C8B-B14F-4D97-AF65-F5344CB8AC3E}">
        <p14:creationId xmlns:p14="http://schemas.microsoft.com/office/powerpoint/2010/main" val="862817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B84DC-4511-84A9-0FF9-D4A157E5A8E8}"/>
              </a:ext>
            </a:extLst>
          </p:cNvPr>
          <p:cNvSpPr>
            <a:spLocks noGrp="1"/>
          </p:cNvSpPr>
          <p:nvPr>
            <p:ph type="title"/>
          </p:nvPr>
        </p:nvSpPr>
        <p:spPr>
          <a:xfrm>
            <a:off x="160444" y="942938"/>
            <a:ext cx="12031556" cy="1293028"/>
          </a:xfrm>
        </p:spPr>
        <p:txBody>
          <a:bodyPr/>
          <a:lstStyle/>
          <a:p>
            <a:pPr algn="ctr"/>
            <a:r>
              <a:rPr lang="en-IN" dirty="0">
                <a:latin typeface="Arial Black" panose="020B0A04020102020204" pitchFamily="34" charset="0"/>
              </a:rPr>
              <a:t>LITERATURE SURVEY</a:t>
            </a:r>
            <a:br>
              <a:rPr lang="en-IN" dirty="0">
                <a:latin typeface="Arial Black" panose="020B0A04020102020204" pitchFamily="34" charset="0"/>
              </a:rPr>
            </a:br>
            <a:endParaRPr lang="en-IN" dirty="0">
              <a:latin typeface="Arial Black" panose="020B0A04020102020204" pitchFamily="34" charset="0"/>
            </a:endParaRPr>
          </a:p>
        </p:txBody>
      </p:sp>
      <p:sp>
        <p:nvSpPr>
          <p:cNvPr id="3" name="TextBox 2">
            <a:extLst>
              <a:ext uri="{FF2B5EF4-FFF2-40B4-BE49-F238E27FC236}">
                <a16:creationId xmlns:a16="http://schemas.microsoft.com/office/drawing/2014/main" id="{5C8286DA-8056-D2DE-F8C6-AF5BB4F61781}"/>
              </a:ext>
            </a:extLst>
          </p:cNvPr>
          <p:cNvSpPr txBox="1"/>
          <p:nvPr/>
        </p:nvSpPr>
        <p:spPr>
          <a:xfrm>
            <a:off x="867266" y="1506682"/>
            <a:ext cx="10830748" cy="369332"/>
          </a:xfrm>
          <a:prstGeom prst="rect">
            <a:avLst/>
          </a:prstGeom>
          <a:noFill/>
        </p:spPr>
        <p:txBody>
          <a:bodyPr wrap="square" rtlCol="0">
            <a:spAutoFit/>
          </a:bodyPr>
          <a:lstStyle/>
          <a:p>
            <a:endParaRPr/>
          </a:p>
        </p:txBody>
      </p:sp>
      <p:sp>
        <p:nvSpPr>
          <p:cNvPr id="4" name="Rectangle 4">
            <a:extLst>
              <a:ext uri="{FF2B5EF4-FFF2-40B4-BE49-F238E27FC236}">
                <a16:creationId xmlns:a16="http://schemas.microsoft.com/office/drawing/2014/main" id="{192AAD8D-9257-642A-1BC5-6AEAD9426689}"/>
              </a:ext>
            </a:extLst>
          </p:cNvPr>
          <p:cNvSpPr>
            <a:spLocks noChangeArrowheads="1"/>
          </p:cNvSpPr>
          <p:nvPr/>
        </p:nvSpPr>
        <p:spPr bwMode="auto">
          <a:xfrm>
            <a:off x="2578627" y="120000"/>
            <a:ext cx="7034746" cy="1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SHALAKA FOU</a:t>
            </a:r>
            <a:r>
              <a:rPr kumimoji="0" lang="en-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a:t>
            </a: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DATION’S</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ts val="600"/>
              </a:spcBef>
              <a:spcAft>
                <a:spcPct val="0"/>
              </a:spcAft>
              <a:buClrTx/>
              <a:buSzTx/>
              <a:buFontTx/>
              <a:buNone/>
              <a:tabLst/>
            </a:pPr>
            <a:r>
              <a:rPr kumimoji="0" lang="sa-IN" altLang="en-US" sz="2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KEYSTONE SCHOOL OF ENGINEERING</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6">
            <a:extLst>
              <a:ext uri="{FF2B5EF4-FFF2-40B4-BE49-F238E27FC236}">
                <a16:creationId xmlns:a16="http://schemas.microsoft.com/office/drawing/2014/main" id="{E4ED560C-FA87-B9BA-D3F1-7C76C712FF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676" y="166086"/>
            <a:ext cx="1040091" cy="95214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01" name="LitTableA"/>
          <p:cNvGraphicFramePr>
            <a:graphicFrameLocks noGrp="1"/>
          </p:cNvGraphicFramePr>
          <p:nvPr/>
        </p:nvGraphicFramePr>
        <p:xfrm>
          <a:off x="809297" y="2280000"/>
          <a:ext cx="10447284" cy="4250000"/>
        </p:xfrm>
        <a:graphic>
          <a:graphicData uri="http://schemas.openxmlformats.org/drawingml/2006/table">
            <a:tbl>
              <a:tblPr firstRow="1" bandRow="1">
                <a:tableStyleId>{5C22544A-7EE6-4342-B048-85BDC9FD1C3A}</a:tableStyleId>
              </a:tblPr>
              <a:tblGrid>
                <a:gridCol w="3800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2100000">
                  <a:extLst>
                    <a:ext uri="{9D8B030D-6E8A-4147-A177-3AD203B41FA5}">
                      <a16:colId xmlns:a16="http://schemas.microsoft.com/office/drawing/2014/main" val="20002"/>
                    </a:ext>
                  </a:extLst>
                </a:gridCol>
                <a:gridCol w="2147284">
                  <a:extLst>
                    <a:ext uri="{9D8B030D-6E8A-4147-A177-3AD203B41FA5}">
                      <a16:colId xmlns:a16="http://schemas.microsoft.com/office/drawing/2014/main" val="20003"/>
                    </a:ext>
                  </a:extLst>
                </a:gridCol>
              </a:tblGrid>
              <a:tr h="500000">
                <a:tc>
                  <a:txBody>
                    <a:bodyPr/>
                    <a:lstStyle/>
                    <a:p>
                      <a:pPr algn="l"/>
                      <a:r>
                        <a:rPr lang="en-US" sz="1200" b="1" dirty="0">
                          <a:solidFill>
                            <a:srgbClr val="FFFFFF"/>
                          </a:solidFill>
                          <a:latin typeface="Times New Roman" pitchFamily="18" charset="0"/>
                        </a:rPr>
                        <a:t>Title, Author &amp; Year</a:t>
                      </a:r>
                    </a:p>
                  </a:txBody>
                  <a:tcPr marL="45720" marR="45720" marT="27432" marB="27432" anchor="ctr">
                    <a:solidFill>
                      <a:srgbClr val="1F4E78"/>
                    </a:solidFill>
                  </a:tcPr>
                </a:tc>
                <a:tc>
                  <a:txBody>
                    <a:bodyPr/>
                    <a:lstStyle/>
                    <a:p>
                      <a:pPr algn="l"/>
                      <a:r>
                        <a:rPr lang="en-US" sz="1200" b="1" dirty="0">
                          <a:solidFill>
                            <a:srgbClr val="FFFFFF"/>
                          </a:solidFill>
                          <a:latin typeface="Times New Roman" pitchFamily="18" charset="0"/>
                        </a:rPr>
                        <a:t>Methodology</a:t>
                      </a:r>
                    </a:p>
                  </a:txBody>
                  <a:tcPr marL="45720" marR="45720" marT="27432" marB="27432" anchor="ctr">
                    <a:solidFill>
                      <a:srgbClr val="1F4E78"/>
                    </a:solidFill>
                  </a:tcPr>
                </a:tc>
                <a:tc>
                  <a:txBody>
                    <a:bodyPr/>
                    <a:lstStyle/>
                    <a:p>
                      <a:pPr algn="l"/>
                      <a:r>
                        <a:rPr lang="en-US" sz="1200" b="1" dirty="0">
                          <a:solidFill>
                            <a:srgbClr val="FFFFFF"/>
                          </a:solidFill>
                          <a:latin typeface="Times New Roman" pitchFamily="18" charset="0"/>
                        </a:rPr>
                        <a:t>Result</a:t>
                      </a:r>
                    </a:p>
                  </a:txBody>
                  <a:tcPr marL="45720" marR="45720" marT="27432" marB="27432" anchor="ctr">
                    <a:solidFill>
                      <a:srgbClr val="1F4E78"/>
                    </a:solidFill>
                  </a:tcPr>
                </a:tc>
                <a:tc>
                  <a:txBody>
                    <a:bodyPr/>
                    <a:lstStyle/>
                    <a:p>
                      <a:pPr algn="l"/>
                      <a:r>
                        <a:rPr lang="en-US" sz="1200" b="1" dirty="0">
                          <a:solidFill>
                            <a:srgbClr val="FFFFFF"/>
                          </a:solidFill>
                          <a:latin typeface="Times New Roman" pitchFamily="18" charset="0"/>
                        </a:rPr>
                        <a:t>Research Gap</a:t>
                      </a:r>
                    </a:p>
                  </a:txBody>
                  <a:tcPr marL="45720" marR="45720" marT="27432" marB="27432" anchor="ctr">
                    <a:solidFill>
                      <a:srgbClr val="1F4E78"/>
                    </a:solidFill>
                  </a:tcPr>
                </a:tc>
                <a:extLst>
                  <a:ext uri="{0D108BD9-81ED-4DB2-BD59-A6C34878D82A}">
                    <a16:rowId xmlns:a16="http://schemas.microsoft.com/office/drawing/2014/main" val="10000"/>
                  </a:ext>
                </a:extLst>
              </a:tr>
              <a:tr h="750000">
                <a:tc>
                  <a:txBody>
                    <a:bodyPr/>
                    <a:lstStyle/>
                    <a:p>
                      <a:pPr algn="l"/>
                      <a:r>
                        <a:rPr lang="en-US" sz="950" b="1" i="1" dirty="0">
                          <a:latin typeface="Times New Roman" pitchFamily="18" charset="0"/>
                        </a:rPr>
                        <a:t>Advanced Neural Network Architectures for Tomato Leaf Disease Diagnosis in Precision Agriculture</a:t>
                      </a:r>
                    </a:p>
                    <a:p>
                      <a:pPr algn="l"/>
                      <a:r>
                        <a:rPr lang="en-US" sz="950" b="0" dirty="0">
                          <a:latin typeface="Times New Roman" pitchFamily="18" charset="0"/>
                        </a:rPr>
                        <a:t>Ghosh et al., 2025</a:t>
                      </a:r>
                    </a:p>
                  </a:txBody>
                  <a:tcPr marL="45720" marR="45720" marT="27432" marB="27432" anchor="ctr"/>
                </a:tc>
                <a:tc>
                  <a:txBody>
                    <a:bodyPr/>
                    <a:lstStyle/>
                    <a:p>
                      <a:pPr algn="l"/>
                      <a:r>
                        <a:rPr lang="en-US" sz="1050" b="0" dirty="0">
                          <a:latin typeface="Times New Roman" pitchFamily="18" charset="0"/>
                        </a:rPr>
                        <a:t>Compares VGG19, ViT, EfficientNetV2, ConvNeXt for tomato disease diagnosis</a:t>
                      </a:r>
                    </a:p>
                  </a:txBody>
                  <a:tcPr marL="45720" marR="45720" marT="27432" marB="27432" anchor="ctr"/>
                </a:tc>
                <a:tc>
                  <a:txBody>
                    <a:bodyPr/>
                    <a:lstStyle/>
                    <a:p>
                      <a:pPr algn="l"/>
                      <a:r>
                        <a:rPr lang="en-US" sz="1050" b="0" dirty="0">
                          <a:latin typeface="Times New Roman" pitchFamily="18" charset="0"/>
                        </a:rPr>
                        <a:t>Hybrid models give highest accuracy</a:t>
                      </a:r>
                    </a:p>
                  </a:txBody>
                  <a:tcPr marL="45720" marR="45720" marT="27432" marB="27432" anchor="ctr"/>
                </a:tc>
                <a:tc>
                  <a:txBody>
                    <a:bodyPr/>
                    <a:lstStyle/>
                    <a:p>
                      <a:pPr algn="l"/>
                      <a:r>
                        <a:rPr lang="en-US" sz="1050" b="0" dirty="0">
                          <a:latin typeface="Times New Roman" pitchFamily="18" charset="0"/>
                        </a:rPr>
                        <a:t>No unified class-imbalance handling</a:t>
                      </a:r>
                    </a:p>
                  </a:txBody>
                  <a:tcPr marL="45720" marR="45720" marT="27432" marB="27432" anchor="ctr"/>
                </a:tc>
                <a:extLst>
                  <a:ext uri="{0D108BD9-81ED-4DB2-BD59-A6C34878D82A}">
                    <a16:rowId xmlns:a16="http://schemas.microsoft.com/office/drawing/2014/main" val="10001"/>
                  </a:ext>
                </a:extLst>
              </a:tr>
              <a:tr h="750000">
                <a:tc>
                  <a:txBody>
                    <a:bodyPr/>
                    <a:lstStyle/>
                    <a:p>
                      <a:pPr algn="l"/>
                      <a:r>
                        <a:rPr lang="en-US" sz="950" b="1" i="1" dirty="0">
                          <a:latin typeface="Times New Roman" pitchFamily="18" charset="0"/>
                        </a:rPr>
                        <a:t>Optimized Deep CNN Architectures for High-Precision Multiclass Detection of Tomato Leaf Diseases</a:t>
                      </a:r>
                    </a:p>
                    <a:p>
                      <a:pPr algn="l"/>
                      <a:r>
                        <a:rPr lang="en-US" sz="950" b="0" dirty="0">
                          <a:latin typeface="Times New Roman" pitchFamily="18" charset="0"/>
                        </a:rPr>
                        <a:t>Das &amp; Senapati, 2026</a:t>
                      </a:r>
                    </a:p>
                  </a:txBody>
                  <a:tcPr marL="45720" marR="45720" marT="27432" marB="27432" anchor="ctr">
                    <a:solidFill>
                      <a:srgbClr val="F2F2F2"/>
                    </a:solidFill>
                  </a:tcPr>
                </a:tc>
                <a:tc>
                  <a:txBody>
                    <a:bodyPr/>
                    <a:lstStyle/>
                    <a:p>
                      <a:pPr algn="l"/>
                      <a:r>
                        <a:rPr lang="en-US" sz="1050" b="0" dirty="0">
                          <a:latin typeface="Times New Roman" pitchFamily="18" charset="0"/>
                        </a:rPr>
                        <a:t>Selectively unfreezes deep conv blocks for fine-tuning</a:t>
                      </a:r>
                    </a:p>
                  </a:txBody>
                  <a:tcPr marL="45720" marR="45720" marT="27432" marB="27432" anchor="ctr">
                    <a:solidFill>
                      <a:srgbClr val="F2F2F2"/>
                    </a:solidFill>
                  </a:tcPr>
                </a:tc>
                <a:tc>
                  <a:txBody>
                    <a:bodyPr/>
                    <a:lstStyle/>
                    <a:p>
                      <a:pPr algn="l"/>
                      <a:r>
                        <a:rPr lang="en-US" sz="1050" b="0" dirty="0">
                          <a:latin typeface="Times New Roman" pitchFamily="18" charset="0"/>
                        </a:rPr>
                        <a:t>99.08% accuracy</a:t>
                      </a:r>
                    </a:p>
                  </a:txBody>
                  <a:tcPr marL="45720" marR="45720" marT="27432" marB="27432" anchor="ctr">
                    <a:solidFill>
                      <a:srgbClr val="F2F2F2"/>
                    </a:solidFill>
                  </a:tcPr>
                </a:tc>
                <a:tc>
                  <a:txBody>
                    <a:bodyPr/>
                    <a:lstStyle/>
                    <a:p>
                      <a:pPr algn="l"/>
                      <a:r>
                        <a:rPr lang="en-US" sz="1050" b="0" dirty="0">
                          <a:latin typeface="Times New Roman" pitchFamily="18" charset="0"/>
                        </a:rPr>
                        <a:t>No class-imbalance analysis</a:t>
                      </a:r>
                    </a:p>
                  </a:txBody>
                  <a:tcPr marL="45720" marR="45720" marT="27432" marB="27432" anchor="ctr">
                    <a:solidFill>
                      <a:srgbClr val="F2F2F2"/>
                    </a:solidFill>
                  </a:tcPr>
                </a:tc>
                <a:extLst>
                  <a:ext uri="{0D108BD9-81ED-4DB2-BD59-A6C34878D82A}">
                    <a16:rowId xmlns:a16="http://schemas.microsoft.com/office/drawing/2014/main" val="10002"/>
                  </a:ext>
                </a:extLst>
              </a:tr>
              <a:tr h="750000">
                <a:tc>
                  <a:txBody>
                    <a:bodyPr/>
                    <a:lstStyle/>
                    <a:p>
                      <a:pPr algn="l"/>
                      <a:r>
                        <a:rPr lang="en-US" sz="950" b="1" i="1" dirty="0">
                          <a:latin typeface="Times New Roman" pitchFamily="18" charset="0"/>
                        </a:rPr>
                        <a:t>An Automated Approach Using Hybrid CNN to Recognize and Classify Tomato Leaf Diseases</a:t>
                      </a:r>
                    </a:p>
                    <a:p>
                      <a:pPr algn="l"/>
                      <a:r>
                        <a:rPr lang="en-US" sz="950" b="0" dirty="0">
                          <a:latin typeface="Times New Roman" pitchFamily="18" charset="0"/>
                        </a:rPr>
                        <a:t>Saradha et al., 2026</a:t>
                      </a:r>
                    </a:p>
                  </a:txBody>
                  <a:tcPr marL="45720" marR="45720" marT="27432" marB="27432" anchor="ctr"/>
                </a:tc>
                <a:tc>
                  <a:txBody>
                    <a:bodyPr/>
                    <a:lstStyle/>
                    <a:p>
                      <a:pPr algn="l"/>
                      <a:r>
                        <a:rPr lang="en-US" sz="1050" b="0" dirty="0">
                          <a:latin typeface="Times New Roman" pitchFamily="18" charset="0"/>
                        </a:rPr>
                        <a:t>Combines ResNet50 feature extraction with SVM classifier</a:t>
                      </a:r>
                    </a:p>
                  </a:txBody>
                  <a:tcPr marL="45720" marR="45720" marT="27432" marB="27432" anchor="ctr"/>
                </a:tc>
                <a:tc>
                  <a:txBody>
                    <a:bodyPr/>
                    <a:lstStyle/>
                    <a:p>
                      <a:pPr algn="l"/>
                      <a:r>
                        <a:rPr lang="en-US" sz="1050" b="0" dirty="0">
                          <a:latin typeface="Times New Roman" pitchFamily="18" charset="0"/>
                        </a:rPr>
                        <a:t>Reduced overfitting on skewed classes</a:t>
                      </a:r>
                    </a:p>
                  </a:txBody>
                  <a:tcPr marL="45720" marR="45720" marT="27432" marB="27432" anchor="ctr"/>
                </a:tc>
                <a:tc>
                  <a:txBody>
                    <a:bodyPr/>
                    <a:lstStyle/>
                    <a:p>
                      <a:pPr algn="l"/>
                      <a:r>
                        <a:rPr lang="en-US" sz="1050" b="0" dirty="0">
                          <a:latin typeface="Times New Roman" pitchFamily="18" charset="0"/>
                        </a:rPr>
                        <a:t>Imbalance only partly solved</a:t>
                      </a:r>
                    </a:p>
                  </a:txBody>
                  <a:tcPr marL="45720" marR="45720" marT="27432" marB="27432" anchor="ctr"/>
                </a:tc>
                <a:extLst>
                  <a:ext uri="{0D108BD9-81ED-4DB2-BD59-A6C34878D82A}">
                    <a16:rowId xmlns:a16="http://schemas.microsoft.com/office/drawing/2014/main" val="10003"/>
                  </a:ext>
                </a:extLst>
              </a:tr>
              <a:tr h="750000">
                <a:tc>
                  <a:txBody>
                    <a:bodyPr/>
                    <a:lstStyle/>
                    <a:p>
                      <a:pPr algn="l"/>
                      <a:r>
                        <a:rPr lang="en-US" sz="950" b="1" i="1" dirty="0">
                          <a:latin typeface="Times New Roman" pitchFamily="18" charset="0"/>
                        </a:rPr>
                        <a:t>Classification of Foliar Diseases in Tomato Crops Using Convolutional Neural Networks</a:t>
                      </a:r>
                    </a:p>
                    <a:p>
                      <a:pPr algn="l"/>
                      <a:r>
                        <a:rPr lang="en-US" sz="950" b="0" dirty="0">
                          <a:latin typeface="Times New Roman" pitchFamily="18" charset="0"/>
                        </a:rPr>
                        <a:t>Lopez-Velasco et al., 2026</a:t>
                      </a:r>
                    </a:p>
                  </a:txBody>
                  <a:tcPr marL="45720" marR="45720" marT="27432" marB="27432" anchor="ctr">
                    <a:solidFill>
                      <a:srgbClr val="F2F2F2"/>
                    </a:solidFill>
                  </a:tcPr>
                </a:tc>
                <a:tc>
                  <a:txBody>
                    <a:bodyPr/>
                    <a:lstStyle/>
                    <a:p>
                      <a:pPr algn="l"/>
                      <a:r>
                        <a:rPr lang="en-US" sz="1050" b="0" dirty="0">
                          <a:latin typeface="Times New Roman" pitchFamily="18" charset="0"/>
                        </a:rPr>
                        <a:t>Benchmarks custom CNN vs. VGG16/19, InceptionV3, Xception</a:t>
                      </a:r>
                    </a:p>
                  </a:txBody>
                  <a:tcPr marL="45720" marR="45720" marT="27432" marB="27432" anchor="ctr">
                    <a:solidFill>
                      <a:srgbClr val="F2F2F2"/>
                    </a:solidFill>
                  </a:tcPr>
                </a:tc>
                <a:tc>
                  <a:txBody>
                    <a:bodyPr/>
                    <a:lstStyle/>
                    <a:p>
                      <a:pPr algn="l"/>
                      <a:r>
                        <a:rPr lang="en-US" sz="1050" b="0" dirty="0">
                          <a:latin typeface="Times New Roman" pitchFamily="18" charset="0"/>
                        </a:rPr>
                        <a:t>&gt;95% train &amp; test accuracy</a:t>
                      </a:r>
                    </a:p>
                  </a:txBody>
                  <a:tcPr marL="45720" marR="45720" marT="27432" marB="27432" anchor="ctr">
                    <a:solidFill>
                      <a:srgbClr val="F2F2F2"/>
                    </a:solidFill>
                  </a:tcPr>
                </a:tc>
                <a:tc>
                  <a:txBody>
                    <a:bodyPr/>
                    <a:lstStyle/>
                    <a:p>
                      <a:pPr algn="l"/>
                      <a:r>
                        <a:rPr lang="en-US" sz="1050" b="0" dirty="0">
                          <a:latin typeface="Times New Roman" pitchFamily="18" charset="0"/>
                        </a:rPr>
                        <a:t>No class-imbalance handling</a:t>
                      </a:r>
                    </a:p>
                  </a:txBody>
                  <a:tcPr marL="45720" marR="45720" marT="27432" marB="27432" anchor="ctr">
                    <a:solidFill>
                      <a:srgbClr val="F2F2F2"/>
                    </a:solidFill>
                  </a:tcPr>
                </a:tc>
                <a:extLst>
                  <a:ext uri="{0D108BD9-81ED-4DB2-BD59-A6C34878D82A}">
                    <a16:rowId xmlns:a16="http://schemas.microsoft.com/office/drawing/2014/main" val="10004"/>
                  </a:ext>
                </a:extLst>
              </a:tr>
              <a:tr h="750000">
                <a:tc>
                  <a:txBody>
                    <a:bodyPr/>
                    <a:lstStyle/>
                    <a:p>
                      <a:pPr algn="l"/>
                      <a:r>
                        <a:rPr lang="en-US" sz="950" b="1" i="1" dirty="0">
                          <a:latin typeface="Times New Roman" pitchFamily="18" charset="0"/>
                        </a:rPr>
                        <a:t>Tomato Leaf Disease Detection Using Convolutional Neural Network</a:t>
                      </a:r>
                    </a:p>
                    <a:p>
                      <a:pPr algn="l"/>
                      <a:r>
                        <a:rPr lang="en-US" sz="950" b="0" dirty="0">
                          <a:latin typeface="Times New Roman" pitchFamily="18" charset="0"/>
                        </a:rPr>
                        <a:t>Trisha et al., 2026</a:t>
                      </a:r>
                    </a:p>
                  </a:txBody>
                  <a:tcPr marL="45720" marR="45720" marT="27432" marB="27432" anchor="ctr"/>
                </a:tc>
                <a:tc>
                  <a:txBody>
                    <a:bodyPr/>
                    <a:lstStyle/>
                    <a:p>
                      <a:pPr algn="l"/>
                      <a:r>
                        <a:rPr lang="en-US" sz="1050" b="0" dirty="0">
                          <a:latin typeface="Times New Roman" pitchFamily="18" charset="0"/>
                        </a:rPr>
                        <a:t>Custom CNN trained on 5 major tomato disease categories</a:t>
                      </a:r>
                    </a:p>
                  </a:txBody>
                  <a:tcPr marL="45720" marR="45720" marT="27432" marB="27432" anchor="ctr"/>
                </a:tc>
                <a:tc>
                  <a:txBody>
                    <a:bodyPr/>
                    <a:lstStyle/>
                    <a:p>
                      <a:pPr algn="l"/>
                      <a:r>
                        <a:rPr lang="en-US" sz="1050" b="0" dirty="0">
                          <a:latin typeface="Times New Roman" pitchFamily="18" charset="0"/>
                        </a:rPr>
                        <a:t>Effective healthy vs. diseased split</a:t>
                      </a:r>
                    </a:p>
                  </a:txBody>
                  <a:tcPr marL="45720" marR="45720" marT="27432" marB="27432" anchor="ctr"/>
                </a:tc>
                <a:tc>
                  <a:txBody>
                    <a:bodyPr/>
                    <a:lstStyle/>
                    <a:p>
                      <a:pPr algn="l"/>
                      <a:r>
                        <a:rPr lang="en-US" sz="1050" b="0" dirty="0">
                          <a:latin typeface="Times New Roman" pitchFamily="18" charset="0"/>
                        </a:rPr>
                        <a:t>Limited to only 5 disease classes</a:t>
                      </a:r>
                    </a:p>
                  </a:txBody>
                  <a:tcPr marL="45720" marR="45720" marT="27432" marB="27432" anchor="ctr"/>
                </a:tc>
                <a:extLst>
                  <a:ext uri="{0D108BD9-81ED-4DB2-BD59-A6C34878D82A}">
                    <a16:rowId xmlns:a16="http://schemas.microsoft.com/office/drawing/2014/main" val="10005"/>
                  </a:ext>
                </a:extLst>
              </a:tr>
            </a:tbl>
          </a:graphicData>
        </a:graphic>
      </p:graphicFrame>
      <p:sp>
        <p:nvSpPr>
          <p:cNvPr id="13" name="TextBox 12">
            <a:extLst>
              <a:ext uri="{FF2B5EF4-FFF2-40B4-BE49-F238E27FC236}">
                <a16:creationId xmlns:a16="http://schemas.microsoft.com/office/drawing/2014/main" id="{4DE60D6F-74D6-CE7B-6436-AFD920AD5351}"/>
              </a:ext>
            </a:extLst>
          </p:cNvPr>
          <p:cNvSpPr txBox="1"/>
          <p:nvPr/>
        </p:nvSpPr>
        <p:spPr>
          <a:xfrm>
            <a:off x="809296" y="4243579"/>
            <a:ext cx="10625959" cy="400110"/>
          </a:xfrm>
          <a:prstGeom prst="rect">
            <a:avLst/>
          </a:prstGeom>
          <a:noFill/>
        </p:spPr>
        <p:txBody>
          <a:bodyPr wrap="square">
            <a:spAutoFit/>
          </a:bodyPr>
          <a:lstStyle/>
          <a:p>
            <a:endParaRPr lang="en-IN" sz="2000" b="1" dirty="0">
              <a:solidFill>
                <a:srgbClr val="FF0000"/>
              </a:solidFill>
            </a:endParaRPr>
          </a:p>
        </p:txBody>
      </p:sp>
    </p:spTree>
    <p:extLst>
      <p:ext uri="{BB962C8B-B14F-4D97-AF65-F5344CB8AC3E}">
        <p14:creationId xmlns:p14="http://schemas.microsoft.com/office/powerpoint/2010/main" val="3532627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B84DC-4511-84A9-0FF9-D4A157E5A8E8}"/>
              </a:ext>
            </a:extLst>
          </p:cNvPr>
          <p:cNvSpPr>
            <a:spLocks noGrp="1"/>
          </p:cNvSpPr>
          <p:nvPr>
            <p:ph type="title"/>
          </p:nvPr>
        </p:nvSpPr>
        <p:spPr>
          <a:xfrm>
            <a:off x="160444" y="942938"/>
            <a:ext cx="12031556" cy="1293028"/>
          </a:xfrm>
        </p:spPr>
        <p:txBody>
          <a:bodyPr/>
          <a:lstStyle/>
          <a:p>
            <a:pPr algn="ctr"/>
            <a:r>
              <a:rPr lang="en-IN" dirty="0">
                <a:latin typeface="Arial Black" panose="020B0A04020102020204" pitchFamily="34" charset="0"/>
              </a:rPr>
              <a:t>LITERATURE SURVEY</a:t>
            </a:r>
            <a:br>
              <a:rPr lang="en-IN" dirty="0">
                <a:latin typeface="Arial Black" panose="020B0A04020102020204" pitchFamily="34" charset="0"/>
              </a:rPr>
            </a:br>
            <a:endParaRPr lang="en-IN" dirty="0">
              <a:latin typeface="Arial Black" panose="020B0A04020102020204" pitchFamily="34" charset="0"/>
            </a:endParaRPr>
          </a:p>
        </p:txBody>
      </p:sp>
      <p:sp>
        <p:nvSpPr>
          <p:cNvPr id="3" name="TextBox 2">
            <a:extLst>
              <a:ext uri="{FF2B5EF4-FFF2-40B4-BE49-F238E27FC236}">
                <a16:creationId xmlns:a16="http://schemas.microsoft.com/office/drawing/2014/main" id="{5C8286DA-8056-D2DE-F8C6-AF5BB4F61781}"/>
              </a:ext>
            </a:extLst>
          </p:cNvPr>
          <p:cNvSpPr txBox="1"/>
          <p:nvPr/>
        </p:nvSpPr>
        <p:spPr>
          <a:xfrm>
            <a:off x="867266" y="1506682"/>
            <a:ext cx="10830748" cy="369332"/>
          </a:xfrm>
          <a:prstGeom prst="rect">
            <a:avLst/>
          </a:prstGeom>
          <a:noFill/>
        </p:spPr>
        <p:txBody>
          <a:bodyPr wrap="square" rtlCol="0">
            <a:spAutoFit/>
          </a:bodyPr>
          <a:lstStyle/>
          <a:p>
            <a:endParaRPr/>
          </a:p>
        </p:txBody>
      </p:sp>
      <p:sp>
        <p:nvSpPr>
          <p:cNvPr id="4" name="Rectangle 4">
            <a:extLst>
              <a:ext uri="{FF2B5EF4-FFF2-40B4-BE49-F238E27FC236}">
                <a16:creationId xmlns:a16="http://schemas.microsoft.com/office/drawing/2014/main" id="{192AAD8D-9257-642A-1BC5-6AEAD9426689}"/>
              </a:ext>
            </a:extLst>
          </p:cNvPr>
          <p:cNvSpPr>
            <a:spLocks noChangeArrowheads="1"/>
          </p:cNvSpPr>
          <p:nvPr/>
        </p:nvSpPr>
        <p:spPr bwMode="auto">
          <a:xfrm>
            <a:off x="2578627" y="120000"/>
            <a:ext cx="7034746" cy="1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SHALAKA FOU</a:t>
            </a:r>
            <a:r>
              <a:rPr kumimoji="0" lang="en-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a:t>
            </a: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DATION’S</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ts val="600"/>
              </a:spcBef>
              <a:spcAft>
                <a:spcPct val="0"/>
              </a:spcAft>
              <a:buClrTx/>
              <a:buSzTx/>
              <a:buFontTx/>
              <a:buNone/>
              <a:tabLst/>
            </a:pPr>
            <a:r>
              <a:rPr kumimoji="0" lang="sa-IN" altLang="en-US" sz="2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KEYSTONE SCHOOL OF ENGINEERING</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6">
            <a:extLst>
              <a:ext uri="{FF2B5EF4-FFF2-40B4-BE49-F238E27FC236}">
                <a16:creationId xmlns:a16="http://schemas.microsoft.com/office/drawing/2014/main" id="{E4ED560C-FA87-B9BA-D3F1-7C76C712FF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676" y="166086"/>
            <a:ext cx="1040091" cy="95214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02" name="LitTableB"/>
          <p:cNvGraphicFramePr>
            <a:graphicFrameLocks noGrp="1"/>
          </p:cNvGraphicFramePr>
          <p:nvPr/>
        </p:nvGraphicFramePr>
        <p:xfrm>
          <a:off x="809297" y="2280000"/>
          <a:ext cx="10447284" cy="4250000"/>
        </p:xfrm>
        <a:graphic>
          <a:graphicData uri="http://schemas.openxmlformats.org/drawingml/2006/table">
            <a:tbl>
              <a:tblPr firstRow="1" bandRow="1">
                <a:tableStyleId>{5C22544A-7EE6-4342-B048-85BDC9FD1C3A}</a:tableStyleId>
              </a:tblPr>
              <a:tblGrid>
                <a:gridCol w="3800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2100000">
                  <a:extLst>
                    <a:ext uri="{9D8B030D-6E8A-4147-A177-3AD203B41FA5}">
                      <a16:colId xmlns:a16="http://schemas.microsoft.com/office/drawing/2014/main" val="20002"/>
                    </a:ext>
                  </a:extLst>
                </a:gridCol>
                <a:gridCol w="2147284">
                  <a:extLst>
                    <a:ext uri="{9D8B030D-6E8A-4147-A177-3AD203B41FA5}">
                      <a16:colId xmlns:a16="http://schemas.microsoft.com/office/drawing/2014/main" val="20003"/>
                    </a:ext>
                  </a:extLst>
                </a:gridCol>
              </a:tblGrid>
              <a:tr h="500000">
                <a:tc>
                  <a:txBody>
                    <a:bodyPr/>
                    <a:lstStyle/>
                    <a:p>
                      <a:pPr algn="l"/>
                      <a:r>
                        <a:rPr lang="en-US" sz="1200" b="1" dirty="0">
                          <a:solidFill>
                            <a:srgbClr val="FFFFFF"/>
                          </a:solidFill>
                          <a:latin typeface="Times New Roman" pitchFamily="18" charset="0"/>
                        </a:rPr>
                        <a:t>Title, Author &amp; Year</a:t>
                      </a:r>
                    </a:p>
                  </a:txBody>
                  <a:tcPr marL="45720" marR="45720" marT="27432" marB="27432" anchor="ctr">
                    <a:solidFill>
                      <a:srgbClr val="1F4E78"/>
                    </a:solidFill>
                  </a:tcPr>
                </a:tc>
                <a:tc>
                  <a:txBody>
                    <a:bodyPr/>
                    <a:lstStyle/>
                    <a:p>
                      <a:pPr algn="l"/>
                      <a:r>
                        <a:rPr lang="en-US" sz="1200" b="1" dirty="0">
                          <a:solidFill>
                            <a:srgbClr val="FFFFFF"/>
                          </a:solidFill>
                          <a:latin typeface="Times New Roman" pitchFamily="18" charset="0"/>
                        </a:rPr>
                        <a:t>Methodology</a:t>
                      </a:r>
                    </a:p>
                  </a:txBody>
                  <a:tcPr marL="45720" marR="45720" marT="27432" marB="27432" anchor="ctr">
                    <a:solidFill>
                      <a:srgbClr val="1F4E78"/>
                    </a:solidFill>
                  </a:tcPr>
                </a:tc>
                <a:tc>
                  <a:txBody>
                    <a:bodyPr/>
                    <a:lstStyle/>
                    <a:p>
                      <a:pPr algn="l"/>
                      <a:r>
                        <a:rPr lang="en-US" sz="1200" b="1" dirty="0">
                          <a:solidFill>
                            <a:srgbClr val="FFFFFF"/>
                          </a:solidFill>
                          <a:latin typeface="Times New Roman" pitchFamily="18" charset="0"/>
                        </a:rPr>
                        <a:t>Result</a:t>
                      </a:r>
                    </a:p>
                  </a:txBody>
                  <a:tcPr marL="45720" marR="45720" marT="27432" marB="27432" anchor="ctr">
                    <a:solidFill>
                      <a:srgbClr val="1F4E78"/>
                    </a:solidFill>
                  </a:tcPr>
                </a:tc>
                <a:tc>
                  <a:txBody>
                    <a:bodyPr/>
                    <a:lstStyle/>
                    <a:p>
                      <a:pPr algn="l"/>
                      <a:r>
                        <a:rPr lang="en-US" sz="1200" b="1" dirty="0">
                          <a:solidFill>
                            <a:srgbClr val="FFFFFF"/>
                          </a:solidFill>
                          <a:latin typeface="Times New Roman" pitchFamily="18" charset="0"/>
                        </a:rPr>
                        <a:t>Research Gap</a:t>
                      </a:r>
                    </a:p>
                  </a:txBody>
                  <a:tcPr marL="45720" marR="45720" marT="27432" marB="27432" anchor="ctr">
                    <a:solidFill>
                      <a:srgbClr val="1F4E78"/>
                    </a:solidFill>
                  </a:tcPr>
                </a:tc>
                <a:extLst>
                  <a:ext uri="{0D108BD9-81ED-4DB2-BD59-A6C34878D82A}">
                    <a16:rowId xmlns:a16="http://schemas.microsoft.com/office/drawing/2014/main" val="10000"/>
                  </a:ext>
                </a:extLst>
              </a:tr>
              <a:tr h="750000">
                <a:tc>
                  <a:txBody>
                    <a:bodyPr/>
                    <a:lstStyle/>
                    <a:p>
                      <a:pPr algn="l"/>
                      <a:r>
                        <a:rPr lang="en-US" sz="950" b="1" i="1" dirty="0">
                          <a:latin typeface="Times New Roman" pitchFamily="18" charset="0"/>
                        </a:rPr>
                        <a:t>Plant Leaf Disease Detection Using Convolutional Neural Networks</a:t>
                      </a:r>
                    </a:p>
                    <a:p>
                      <a:pPr algn="l"/>
                      <a:r>
                        <a:rPr lang="en-US" sz="950" b="0" dirty="0">
                          <a:latin typeface="Times New Roman" pitchFamily="18" charset="0"/>
                        </a:rPr>
                        <a:t>Munaye et al., 2026</a:t>
                      </a:r>
                    </a:p>
                  </a:txBody>
                  <a:tcPr marL="45720" marR="45720" marT="27432" marB="27432" anchor="ctr"/>
                </a:tc>
                <a:tc>
                  <a:txBody>
                    <a:bodyPr/>
                    <a:lstStyle/>
                    <a:p>
                      <a:pPr algn="l"/>
                      <a:r>
                        <a:rPr lang="en-US" sz="1050" b="0" dirty="0">
                          <a:latin typeface="Times New Roman" pitchFamily="18" charset="0"/>
                        </a:rPr>
                        <a:t>CNN trained across tomato, pepper, and potato (15 classes)</a:t>
                      </a:r>
                    </a:p>
                  </a:txBody>
                  <a:tcPr marL="45720" marR="45720" marT="27432" marB="27432" anchor="ctr"/>
                </a:tc>
                <a:tc>
                  <a:txBody>
                    <a:bodyPr/>
                    <a:lstStyle/>
                    <a:p>
                      <a:pPr algn="l"/>
                      <a:r>
                        <a:rPr lang="en-US" sz="1050" b="0" dirty="0">
                          <a:latin typeface="Times New Roman" pitchFamily="18" charset="0"/>
                        </a:rPr>
                        <a:t>96.14% test accuracy</a:t>
                      </a:r>
                    </a:p>
                  </a:txBody>
                  <a:tcPr marL="45720" marR="45720" marT="27432" marB="27432" anchor="ctr"/>
                </a:tc>
                <a:tc>
                  <a:txBody>
                    <a:bodyPr/>
                    <a:lstStyle/>
                    <a:p>
                      <a:pPr algn="l"/>
                      <a:r>
                        <a:rPr lang="en-US" sz="1050" b="0" dirty="0">
                          <a:latin typeface="Times New Roman" pitchFamily="18" charset="0"/>
                        </a:rPr>
                        <a:t>No class-weighting used</a:t>
                      </a:r>
                    </a:p>
                  </a:txBody>
                  <a:tcPr marL="45720" marR="45720" marT="27432" marB="27432" anchor="ctr"/>
                </a:tc>
                <a:extLst>
                  <a:ext uri="{0D108BD9-81ED-4DB2-BD59-A6C34878D82A}">
                    <a16:rowId xmlns:a16="http://schemas.microsoft.com/office/drawing/2014/main" val="10001"/>
                  </a:ext>
                </a:extLst>
              </a:tr>
              <a:tr h="750000">
                <a:tc>
                  <a:txBody>
                    <a:bodyPr/>
                    <a:lstStyle/>
                    <a:p>
                      <a:pPr algn="l"/>
                      <a:r>
                        <a:rPr lang="en-US" sz="950" b="1" i="1" dirty="0">
                          <a:latin typeface="Times New Roman" pitchFamily="18" charset="0"/>
                        </a:rPr>
                        <a:t>Generative AI-driven Hybrid Data Augmentation for Robust Tomato Leaf Disease Classification</a:t>
                      </a:r>
                    </a:p>
                    <a:p>
                      <a:pPr algn="l"/>
                      <a:r>
                        <a:rPr lang="en-US" sz="950" b="0" dirty="0">
                          <a:latin typeface="Times New Roman" pitchFamily="18" charset="0"/>
                        </a:rPr>
                        <a:t>Nguyen et al., 2026</a:t>
                      </a:r>
                    </a:p>
                  </a:txBody>
                  <a:tcPr marL="45720" marR="45720" marT="27432" marB="27432" anchor="ctr">
                    <a:solidFill>
                      <a:srgbClr val="F2F2F2"/>
                    </a:solidFill>
                  </a:tcPr>
                </a:tc>
                <a:tc>
                  <a:txBody>
                    <a:bodyPr/>
                    <a:lstStyle/>
                    <a:p>
                      <a:pPr algn="l"/>
                      <a:r>
                        <a:rPr lang="en-US" sz="1050" b="0" dirty="0">
                          <a:latin typeface="Times New Roman" pitchFamily="18" charset="0"/>
                        </a:rPr>
                        <a:t>Generative-AI augmentation + EfficientNet-B0 backbone</a:t>
                      </a:r>
                    </a:p>
                  </a:txBody>
                  <a:tcPr marL="45720" marR="45720" marT="27432" marB="27432" anchor="ctr">
                    <a:solidFill>
                      <a:srgbClr val="F2F2F2"/>
                    </a:solidFill>
                  </a:tcPr>
                </a:tc>
                <a:tc>
                  <a:txBody>
                    <a:bodyPr/>
                    <a:lstStyle/>
                    <a:p>
                      <a:pPr algn="l"/>
                      <a:r>
                        <a:rPr lang="en-US" sz="1050" b="0" dirty="0">
                          <a:latin typeface="Times New Roman" pitchFamily="18" charset="0"/>
                        </a:rPr>
                        <a:t>Improved robustness in low-data regime</a:t>
                      </a:r>
                    </a:p>
                  </a:txBody>
                  <a:tcPr marL="45720" marR="45720" marT="27432" marB="27432" anchor="ctr">
                    <a:solidFill>
                      <a:srgbClr val="F2F2F2"/>
                    </a:solidFill>
                  </a:tcPr>
                </a:tc>
                <a:tc>
                  <a:txBody>
                    <a:bodyPr/>
                    <a:lstStyle/>
                    <a:p>
                      <a:pPr algn="l"/>
                      <a:r>
                        <a:rPr lang="en-US" sz="1050" b="0" dirty="0">
                          <a:latin typeface="Times New Roman" pitchFamily="18" charset="0"/>
                        </a:rPr>
                        <a:t>High computational cost</a:t>
                      </a:r>
                    </a:p>
                  </a:txBody>
                  <a:tcPr marL="45720" marR="45720" marT="27432" marB="27432" anchor="ctr">
                    <a:solidFill>
                      <a:srgbClr val="F2F2F2"/>
                    </a:solidFill>
                  </a:tcPr>
                </a:tc>
                <a:extLst>
                  <a:ext uri="{0D108BD9-81ED-4DB2-BD59-A6C34878D82A}">
                    <a16:rowId xmlns:a16="http://schemas.microsoft.com/office/drawing/2014/main" val="10002"/>
                  </a:ext>
                </a:extLst>
              </a:tr>
              <a:tr h="750000">
                <a:tc>
                  <a:txBody>
                    <a:bodyPr/>
                    <a:lstStyle/>
                    <a:p>
                      <a:pPr algn="l"/>
                      <a:r>
                        <a:rPr lang="en-US" sz="950" b="1" i="1" dirty="0">
                          <a:latin typeface="Times New Roman" pitchFamily="18" charset="0"/>
                        </a:rPr>
                        <a:t>Tomato Leaf Disease Detection Using EfficientNet-ViT Hybrid Model with Attention-Driven Feature Fusion</a:t>
                      </a:r>
                    </a:p>
                    <a:p>
                      <a:pPr algn="l"/>
                      <a:r>
                        <a:rPr lang="en-US" sz="950" b="0" dirty="0">
                          <a:latin typeface="Times New Roman" pitchFamily="18" charset="0"/>
                        </a:rPr>
                        <a:t>Gadekar et al., 2026</a:t>
                      </a:r>
                    </a:p>
                  </a:txBody>
                  <a:tcPr marL="45720" marR="45720" marT="27432" marB="27432" anchor="ctr"/>
                </a:tc>
                <a:tc>
                  <a:txBody>
                    <a:bodyPr/>
                    <a:lstStyle/>
                    <a:p>
                      <a:pPr algn="l"/>
                      <a:r>
                        <a:rPr lang="en-US" sz="1050" b="0" dirty="0">
                          <a:latin typeface="Times New Roman" pitchFamily="18" charset="0"/>
                        </a:rPr>
                        <a:t>Proposes attention-based CNN + Transformer feature fusion</a:t>
                      </a:r>
                    </a:p>
                  </a:txBody>
                  <a:tcPr marL="45720" marR="45720" marT="27432" marB="27432" anchor="ctr"/>
                </a:tc>
                <a:tc>
                  <a:txBody>
                    <a:bodyPr/>
                    <a:lstStyle/>
                    <a:p>
                      <a:pPr algn="l"/>
                      <a:r>
                        <a:rPr lang="en-US" sz="1050" b="0" dirty="0">
                          <a:latin typeface="Times New Roman" pitchFamily="18" charset="0"/>
                        </a:rPr>
                        <a:t>Conceptual design, no results yet</a:t>
                      </a:r>
                    </a:p>
                  </a:txBody>
                  <a:tcPr marL="45720" marR="45720" marT="27432" marB="27432" anchor="ctr"/>
                </a:tc>
                <a:tc>
                  <a:txBody>
                    <a:bodyPr/>
                    <a:lstStyle/>
                    <a:p>
                      <a:pPr algn="l"/>
                      <a:r>
                        <a:rPr lang="en-US" sz="1050" b="0" dirty="0">
                          <a:latin typeface="Times New Roman" pitchFamily="18" charset="0"/>
                        </a:rPr>
                        <a:t>Empirical validation missing</a:t>
                      </a:r>
                    </a:p>
                  </a:txBody>
                  <a:tcPr marL="45720" marR="45720" marT="27432" marB="27432" anchor="ctr"/>
                </a:tc>
                <a:extLst>
                  <a:ext uri="{0D108BD9-81ED-4DB2-BD59-A6C34878D82A}">
                    <a16:rowId xmlns:a16="http://schemas.microsoft.com/office/drawing/2014/main" val="10003"/>
                  </a:ext>
                </a:extLst>
              </a:tr>
              <a:tr h="750000">
                <a:tc>
                  <a:txBody>
                    <a:bodyPr/>
                    <a:lstStyle/>
                    <a:p>
                      <a:pPr algn="l"/>
                      <a:r>
                        <a:rPr lang="en-US" sz="950" b="1" i="1" dirty="0">
                          <a:latin typeface="Times New Roman" pitchFamily="18" charset="0"/>
                        </a:rPr>
                        <a:t>Enhancing Tomato Leaf Disease Classification with Deep Transfer Learning on VGG16</a:t>
                      </a:r>
                    </a:p>
                    <a:p>
                      <a:pPr algn="l"/>
                      <a:r>
                        <a:rPr lang="en-US" sz="950" b="0" dirty="0">
                          <a:latin typeface="Times New Roman" pitchFamily="18" charset="0"/>
                        </a:rPr>
                        <a:t>Jain et al., 2026</a:t>
                      </a:r>
                    </a:p>
                  </a:txBody>
                  <a:tcPr marL="45720" marR="45720" marT="27432" marB="27432" anchor="ctr">
                    <a:solidFill>
                      <a:srgbClr val="F2F2F2"/>
                    </a:solidFill>
                  </a:tcPr>
                </a:tc>
                <a:tc>
                  <a:txBody>
                    <a:bodyPr/>
                    <a:lstStyle/>
                    <a:p>
                      <a:pPr algn="l"/>
                      <a:r>
                        <a:rPr lang="en-US" sz="1050" b="0" dirty="0">
                          <a:latin typeface="Times New Roman" pitchFamily="18" charset="0"/>
                        </a:rPr>
                        <a:t>Deep transfer learning on VGG16 for texture-level features</a:t>
                      </a:r>
                    </a:p>
                  </a:txBody>
                  <a:tcPr marL="45720" marR="45720" marT="27432" marB="27432" anchor="ctr">
                    <a:solidFill>
                      <a:srgbClr val="F2F2F2"/>
                    </a:solidFill>
                  </a:tcPr>
                </a:tc>
                <a:tc>
                  <a:txBody>
                    <a:bodyPr/>
                    <a:lstStyle/>
                    <a:p>
                      <a:pPr algn="l"/>
                      <a:r>
                        <a:rPr lang="en-US" sz="1050" b="0" dirty="0">
                          <a:latin typeface="Times New Roman" pitchFamily="18" charset="0"/>
                        </a:rPr>
                        <a:t>99.27% accuracy</a:t>
                      </a:r>
                    </a:p>
                  </a:txBody>
                  <a:tcPr marL="45720" marR="45720" marT="27432" marB="27432" anchor="ctr">
                    <a:solidFill>
                      <a:srgbClr val="F2F2F2"/>
                    </a:solidFill>
                  </a:tcPr>
                </a:tc>
                <a:tc>
                  <a:txBody>
                    <a:bodyPr/>
                    <a:lstStyle/>
                    <a:p>
                      <a:pPr algn="l"/>
                      <a:r>
                        <a:rPr lang="en-US" sz="1050" b="0" dirty="0">
                          <a:latin typeface="Times New Roman" pitchFamily="18" charset="0"/>
                        </a:rPr>
                        <a:t>No class-imbalance discussion</a:t>
                      </a:r>
                    </a:p>
                  </a:txBody>
                  <a:tcPr marL="45720" marR="45720" marT="27432" marB="27432" anchor="ctr">
                    <a:solidFill>
                      <a:srgbClr val="F2F2F2"/>
                    </a:solidFill>
                  </a:tcPr>
                </a:tc>
                <a:extLst>
                  <a:ext uri="{0D108BD9-81ED-4DB2-BD59-A6C34878D82A}">
                    <a16:rowId xmlns:a16="http://schemas.microsoft.com/office/drawing/2014/main" val="10004"/>
                  </a:ext>
                </a:extLst>
              </a:tr>
              <a:tr h="750000">
                <a:tc>
                  <a:txBody>
                    <a:bodyPr/>
                    <a:lstStyle/>
                    <a:p>
                      <a:pPr algn="l"/>
                      <a:r>
                        <a:rPr lang="en-US" sz="950" b="1" i="1" dirty="0">
                          <a:latin typeface="Times New Roman" pitchFamily="18" charset="0"/>
                        </a:rPr>
                        <a:t>Deep Learning Based Multi-class Identification of Tomato Leaf Diseases</a:t>
                      </a:r>
                    </a:p>
                    <a:p>
                      <a:pPr algn="l"/>
                      <a:r>
                        <a:rPr lang="en-US" sz="950" b="0" dirty="0">
                          <a:latin typeface="Times New Roman" pitchFamily="18" charset="0"/>
                        </a:rPr>
                        <a:t>Chaudhury et al., 2026</a:t>
                      </a:r>
                    </a:p>
                  </a:txBody>
                  <a:tcPr marL="45720" marR="45720" marT="27432" marB="27432" anchor="ctr"/>
                </a:tc>
                <a:tc>
                  <a:txBody>
                    <a:bodyPr/>
                    <a:lstStyle/>
                    <a:p>
                      <a:pPr algn="l"/>
                      <a:r>
                        <a:rPr lang="en-US" sz="1050" b="0" dirty="0">
                          <a:latin typeface="Times New Roman" pitchFamily="18" charset="0"/>
                        </a:rPr>
                        <a:t>DenseNet121 transfer learning model</a:t>
                      </a:r>
                    </a:p>
                  </a:txBody>
                  <a:tcPr marL="45720" marR="45720" marT="27432" marB="27432" anchor="ctr"/>
                </a:tc>
                <a:tc>
                  <a:txBody>
                    <a:bodyPr/>
                    <a:lstStyle/>
                    <a:p>
                      <a:pPr algn="l"/>
                      <a:r>
                        <a:rPr lang="en-US" sz="1050" b="0" dirty="0">
                          <a:latin typeface="Times New Roman" pitchFamily="18" charset="0"/>
                        </a:rPr>
                        <a:t>Improved robustness to lighting variation</a:t>
                      </a:r>
                    </a:p>
                  </a:txBody>
                  <a:tcPr marL="45720" marR="45720" marT="27432" marB="27432" anchor="ctr"/>
                </a:tc>
                <a:tc>
                  <a:txBody>
                    <a:bodyPr/>
                    <a:lstStyle/>
                    <a:p>
                      <a:pPr algn="l"/>
                      <a:r>
                        <a:rPr lang="en-US" sz="1050" b="0" dirty="0">
                          <a:latin typeface="Times New Roman" pitchFamily="18" charset="0"/>
                        </a:rPr>
                        <a:t>No class-weighting used</a:t>
                      </a:r>
                    </a:p>
                  </a:txBody>
                  <a:tcPr marL="45720" marR="45720" marT="27432" marB="27432" anchor="ctr"/>
                </a:tc>
                <a:extLst>
                  <a:ext uri="{0D108BD9-81ED-4DB2-BD59-A6C34878D82A}">
                    <a16:rowId xmlns:a16="http://schemas.microsoft.com/office/drawing/2014/main" val="10005"/>
                  </a:ext>
                </a:extLst>
              </a:tr>
            </a:tbl>
          </a:graphicData>
        </a:graphic>
      </p:graphicFrame>
      <p:sp>
        <p:nvSpPr>
          <p:cNvPr id="13" name="TextBox 12">
            <a:extLst>
              <a:ext uri="{FF2B5EF4-FFF2-40B4-BE49-F238E27FC236}">
                <a16:creationId xmlns:a16="http://schemas.microsoft.com/office/drawing/2014/main" id="{4DE60D6F-74D6-CE7B-6436-AFD920AD5351}"/>
              </a:ext>
            </a:extLst>
          </p:cNvPr>
          <p:cNvSpPr txBox="1"/>
          <p:nvPr/>
        </p:nvSpPr>
        <p:spPr>
          <a:xfrm>
            <a:off x="809296" y="4243579"/>
            <a:ext cx="10625959" cy="400110"/>
          </a:xfrm>
          <a:prstGeom prst="rect">
            <a:avLst/>
          </a:prstGeom>
          <a:noFill/>
        </p:spPr>
        <p:txBody>
          <a:bodyPr wrap="square">
            <a:spAutoFit/>
          </a:bodyPr>
          <a:lstStyle/>
          <a:p>
            <a:endParaRPr lang="en-IN" sz="2000" b="1" dirty="0">
              <a:solidFill>
                <a:srgbClr val="FF0000"/>
              </a:solidFill>
            </a:endParaRPr>
          </a:p>
        </p:txBody>
      </p:sp>
    </p:spTree>
    <p:extLst>
      <p:ext uri="{BB962C8B-B14F-4D97-AF65-F5344CB8AC3E}">
        <p14:creationId xmlns:p14="http://schemas.microsoft.com/office/powerpoint/2010/main" val="3532627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AA5C3-C7DF-423B-6DB5-069BB007D120}"/>
              </a:ext>
            </a:extLst>
          </p:cNvPr>
          <p:cNvSpPr>
            <a:spLocks noGrp="1"/>
          </p:cNvSpPr>
          <p:nvPr>
            <p:ph type="title"/>
          </p:nvPr>
        </p:nvSpPr>
        <p:spPr>
          <a:xfrm>
            <a:off x="231228" y="1260531"/>
            <a:ext cx="11960772" cy="1293028"/>
          </a:xfrm>
        </p:spPr>
        <p:txBody>
          <a:bodyPr>
            <a:normAutofit/>
          </a:bodyPr>
          <a:lstStyle/>
          <a:p>
            <a:pPr algn="ctr">
              <a:buClr>
                <a:schemeClr val="tx1"/>
              </a:buClr>
            </a:pPr>
            <a:r>
              <a:rPr lang="en-IN" sz="3600" b="1" dirty="0">
                <a:latin typeface="Arial Black" panose="020B0A04020102020204" pitchFamily="34" charset="0"/>
              </a:rPr>
              <a:t>METHODOLOGY</a:t>
            </a:r>
          </a:p>
        </p:txBody>
      </p:sp>
      <p:sp>
        <p:nvSpPr>
          <p:cNvPr id="4" name="Rectangle 1">
            <a:extLst>
              <a:ext uri="{FF2B5EF4-FFF2-40B4-BE49-F238E27FC236}">
                <a16:creationId xmlns:a16="http://schemas.microsoft.com/office/drawing/2014/main" id="{CAA68E23-7FA8-A1B1-C1BE-A189A88A2DA6}"/>
              </a:ext>
            </a:extLst>
          </p:cNvPr>
          <p:cNvSpPr>
            <a:spLocks noGrp="1" noChangeArrowheads="1"/>
          </p:cNvSpPr>
          <p:nvPr>
            <p:ph idx="1"/>
          </p:nvPr>
        </p:nvSpPr>
        <p:spPr bwMode="auto">
          <a:xfrm>
            <a:off x="609600" y="2350000"/>
            <a:ext cx="10972800" cy="4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Autofit/>
          </a:bodyPr>
          <a:lstStyle/>
          <a:p>
            <a:pPr marL="228600" indent="-228600" algn="l">
              <a:lnSpc>
                <a:spcPct val="100000"/>
              </a:lnSpc>
              <a:spcBef>
                <a:spcPct val="38000"/>
              </a:spcBef>
              <a:buClrTx/>
              <a:buSzTx/>
              <a:buFontTx/>
              <a:buChar char="•"/>
            </a:pPr>
            <a:r>
              <a:rPr lang="en-US" sz="2000" b="1" dirty="0">
                <a:latin typeface="Times New Roman"/>
                <a:cs typeface="Times New Roman"/>
              </a:rPr>
              <a:t>Dataset</a:t>
            </a:r>
            <a:endParaRPr lang="en-US"/>
          </a:p>
          <a:p>
            <a:pPr marL="228600" indent="-228600" algn="l">
              <a:lnSpc>
                <a:spcPct val="100000"/>
              </a:lnSpc>
              <a:spcBef>
                <a:spcPct val="38000"/>
              </a:spcBef>
              <a:buClrTx/>
              <a:buSzTx/>
              <a:buFontTx/>
              <a:buChar char="•"/>
            </a:pPr>
            <a:r>
              <a:rPr lang="en-US" sz="2000" b="0" dirty="0">
                <a:latin typeface="Times New Roman"/>
                <a:cs typeface="Times New Roman"/>
              </a:rPr>
              <a:t>PlantVillage dataset: 18,160 tomato leaf images across 10 classes (9 diseases + 1 healthy)</a:t>
            </a:r>
          </a:p>
          <a:p>
            <a:pPr marL="228600" indent="-228600" algn="l">
              <a:lnSpc>
                <a:spcPct val="100000"/>
              </a:lnSpc>
              <a:spcBef>
                <a:spcPct val="38000"/>
              </a:spcBef>
              <a:buClrTx/>
              <a:buSzTx/>
              <a:buFontTx/>
              <a:buChar char="•"/>
            </a:pPr>
            <a:r>
              <a:rPr lang="en-US" sz="2000" b="0" dirty="0">
                <a:latin typeface="Times New Roman"/>
                <a:cs typeface="Times New Roman"/>
              </a:rPr>
              <a:t>Significant class imbalance: 5,357 images (Yellow Leaf Curl Virus) vs. only 373 (Mosaic Virus)</a:t>
            </a:r>
          </a:p>
          <a:p>
            <a:pPr marL="228600" indent="-228600" algn="l">
              <a:lnSpc>
                <a:spcPct val="100000"/>
              </a:lnSpc>
              <a:spcBef>
                <a:spcPct val="38000"/>
              </a:spcBef>
              <a:buClrTx/>
              <a:buSzTx/>
              <a:buFontTx/>
              <a:buChar char="•"/>
            </a:pPr>
            <a:r>
              <a:rPr lang="en-US" sz="2000" b="0" dirty="0">
                <a:latin typeface="Times New Roman"/>
                <a:cs typeface="Times New Roman"/>
              </a:rPr>
              <a:t>Split into 80% training (14,528 images) and 20% validation (3,632 images)</a:t>
            </a:r>
          </a:p>
          <a:p>
            <a:pPr marL="228600" indent="-228600" algn="l">
              <a:lnSpc>
                <a:spcPct val="100000"/>
              </a:lnSpc>
              <a:spcBef>
                <a:spcPct val="38000"/>
              </a:spcBef>
              <a:buClrTx/>
              <a:buSzTx/>
              <a:buFontTx/>
              <a:buChar char="•"/>
            </a:pPr>
            <a:r>
              <a:rPr lang="en-US" sz="2000" b="1" dirty="0">
                <a:latin typeface="Times New Roman"/>
                <a:cs typeface="Times New Roman"/>
              </a:rPr>
              <a:t>Preprocessing &amp; Augmentation</a:t>
            </a:r>
          </a:p>
          <a:p>
            <a:pPr marL="228600" indent="-228600" algn="l">
              <a:lnSpc>
                <a:spcPct val="100000"/>
              </a:lnSpc>
              <a:spcBef>
                <a:spcPct val="38000"/>
              </a:spcBef>
              <a:buClrTx/>
              <a:buSzTx/>
              <a:buFontTx/>
              <a:buChar char="•"/>
            </a:pPr>
            <a:r>
              <a:rPr lang="en-US" sz="2000" b="0" dirty="0">
                <a:latin typeface="Times New Roman"/>
                <a:cs typeface="Times New Roman"/>
              </a:rPr>
              <a:t>Images resized to 160×160 pixels, normalized using MobileNetV2 preprocessing</a:t>
            </a:r>
          </a:p>
          <a:p>
            <a:pPr marL="228600" indent="-228600" algn="l">
              <a:lnSpc>
                <a:spcPct val="100000"/>
              </a:lnSpc>
              <a:spcBef>
                <a:spcPct val="38000"/>
              </a:spcBef>
              <a:buClrTx/>
              <a:buSzTx/>
              <a:buFontTx/>
              <a:buChar char="•"/>
            </a:pPr>
            <a:r>
              <a:rPr lang="en-US" sz="2000" b="0" dirty="0">
                <a:latin typeface="Times New Roman"/>
                <a:cs typeface="Times New Roman"/>
              </a:rPr>
              <a:t>Augmentation: random horizontal flip, rotation, zoom, and contrast adjustment</a:t>
            </a:r>
          </a:p>
        </p:txBody>
      </p:sp>
      <p:sp>
        <p:nvSpPr>
          <p:cNvPr id="3" name="Rectangle 4">
            <a:extLst>
              <a:ext uri="{FF2B5EF4-FFF2-40B4-BE49-F238E27FC236}">
                <a16:creationId xmlns:a16="http://schemas.microsoft.com/office/drawing/2014/main" id="{47A482DE-61D2-CB8D-4B17-78381F05F9FA}"/>
              </a:ext>
            </a:extLst>
          </p:cNvPr>
          <p:cNvSpPr>
            <a:spLocks noChangeArrowheads="1"/>
          </p:cNvSpPr>
          <p:nvPr/>
        </p:nvSpPr>
        <p:spPr bwMode="auto">
          <a:xfrm>
            <a:off x="2578627" y="120000"/>
            <a:ext cx="7034746" cy="1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SHALAKA FOU</a:t>
            </a:r>
            <a:r>
              <a:rPr kumimoji="0" lang="en-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a:t>
            </a: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DATION’S</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ts val="600"/>
              </a:spcBef>
              <a:spcAft>
                <a:spcPct val="0"/>
              </a:spcAft>
              <a:buClrTx/>
              <a:buSzTx/>
              <a:buFontTx/>
              <a:buNone/>
              <a:tabLst/>
            </a:pPr>
            <a:r>
              <a:rPr kumimoji="0" lang="sa-IN" altLang="en-US" sz="2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KEYSTONE SCHOOL OF ENGINEERING</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6">
            <a:extLst>
              <a:ext uri="{FF2B5EF4-FFF2-40B4-BE49-F238E27FC236}">
                <a16:creationId xmlns:a16="http://schemas.microsoft.com/office/drawing/2014/main" id="{718959D1-0F02-9F16-E734-2C1D900F89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676" y="166086"/>
            <a:ext cx="1040091" cy="952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5532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AA5C3-C7DF-423B-6DB5-069BB007D120}"/>
              </a:ext>
            </a:extLst>
          </p:cNvPr>
          <p:cNvSpPr>
            <a:spLocks noGrp="1"/>
          </p:cNvSpPr>
          <p:nvPr>
            <p:ph type="title"/>
          </p:nvPr>
        </p:nvSpPr>
        <p:spPr>
          <a:xfrm>
            <a:off x="231228" y="1260531"/>
            <a:ext cx="11960772" cy="1293028"/>
          </a:xfrm>
        </p:spPr>
        <p:txBody>
          <a:bodyPr>
            <a:normAutofit/>
          </a:bodyPr>
          <a:lstStyle/>
          <a:p>
            <a:pPr algn="ctr">
              <a:buClr>
                <a:schemeClr val="tx1"/>
              </a:buClr>
            </a:pPr>
            <a:r>
              <a:rPr lang="en-IN" sz="3600" b="1" dirty="0">
                <a:latin typeface="Arial Black" panose="020B0A04020102020204" pitchFamily="34" charset="0"/>
              </a:rPr>
              <a:t>METHODOLOGY</a:t>
            </a:r>
          </a:p>
        </p:txBody>
      </p:sp>
      <p:sp>
        <p:nvSpPr>
          <p:cNvPr id="4" name="Rectangle 1">
            <a:extLst>
              <a:ext uri="{FF2B5EF4-FFF2-40B4-BE49-F238E27FC236}">
                <a16:creationId xmlns:a16="http://schemas.microsoft.com/office/drawing/2014/main" id="{CAA68E23-7FA8-A1B1-C1BE-A189A88A2DA6}"/>
              </a:ext>
            </a:extLst>
          </p:cNvPr>
          <p:cNvSpPr>
            <a:spLocks noGrp="1" noChangeArrowheads="1"/>
          </p:cNvSpPr>
          <p:nvPr>
            <p:ph idx="1"/>
          </p:nvPr>
        </p:nvSpPr>
        <p:spPr bwMode="auto">
          <a:xfrm>
            <a:off x="609600" y="2300000"/>
            <a:ext cx="10972800" cy="21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Autofit/>
          </a:bodyPr>
          <a:lstStyle/>
          <a:p>
            <a:pPr marL="228600" indent="-228600" algn="l">
              <a:lnSpc>
                <a:spcPct val="125000"/>
              </a:lnSpc>
              <a:spcBef>
                <a:spcPct val="30000"/>
              </a:spcBef>
              <a:buClrTx/>
              <a:buSzTx/>
              <a:buFontTx/>
              <a:buChar char="•"/>
            </a:pPr>
            <a:r>
              <a:rPr lang="en-US" sz="2000" b="1" dirty="0">
                <a:latin typeface="Times New Roman"/>
                <a:cs typeface="Times New Roman"/>
              </a:rPr>
              <a:t>Proposed Architecture</a:t>
            </a:r>
          </a:p>
          <a:p>
            <a:pPr marL="228600" indent="-228600" algn="l">
              <a:lnSpc>
                <a:spcPct val="125000"/>
              </a:lnSpc>
              <a:spcBef>
                <a:spcPct val="30000"/>
              </a:spcBef>
              <a:buClrTx/>
              <a:buSzTx/>
              <a:buFontTx/>
              <a:buChar char="•"/>
            </a:pPr>
            <a:r>
              <a:rPr lang="en-US" sz="2000" b="0" dirty="0">
                <a:latin typeface="Times New Roman"/>
                <a:cs typeface="Times New Roman"/>
              </a:rPr>
              <a:t>MobileNetV2 (pretrained on ImageNet) as feature-extraction backbone</a:t>
            </a:r>
          </a:p>
          <a:p>
            <a:pPr marL="228600" indent="-228600" algn="l">
              <a:lnSpc>
                <a:spcPct val="125000"/>
              </a:lnSpc>
              <a:spcBef>
                <a:spcPct val="30000"/>
              </a:spcBef>
              <a:buClrTx/>
              <a:buSzTx/>
              <a:buFontTx/>
              <a:buChar char="•"/>
            </a:pPr>
            <a:r>
              <a:rPr lang="en-US" sz="2000" b="0" dirty="0">
                <a:latin typeface="Times New Roman"/>
                <a:cs typeface="Times New Roman"/>
              </a:rPr>
              <a:t>Custom head: Global Avg Pooling → Dropout(0.3) → Dense(128, ReLU) → Dense(10, Softmax)</a:t>
            </a:r>
          </a:p>
          <a:p>
            <a:pPr marL="228600" indent="-228600" algn="l">
              <a:lnSpc>
                <a:spcPct val="125000"/>
              </a:lnSpc>
              <a:spcBef>
                <a:spcPct val="30000"/>
              </a:spcBef>
              <a:buClrTx/>
              <a:buSzTx/>
              <a:buFontTx/>
              <a:buChar char="•"/>
            </a:pPr>
            <a:r>
              <a:rPr lang="en-US" sz="2000" b="1" dirty="0">
                <a:latin typeface="Times New Roman"/>
                <a:cs typeface="Times New Roman"/>
              </a:rPr>
              <a:t>Two-Phase Training Strategy</a:t>
            </a:r>
          </a:p>
          <a:p>
            <a:pPr marL="228600" indent="-228600" algn="l">
              <a:lnSpc>
                <a:spcPct val="125000"/>
              </a:lnSpc>
              <a:spcBef>
                <a:spcPct val="30000"/>
              </a:spcBef>
              <a:buClrTx/>
              <a:buSzTx/>
              <a:buFontTx/>
              <a:buChar char="•"/>
            </a:pPr>
            <a:r>
              <a:rPr lang="en-US" sz="2000" b="0" dirty="0">
                <a:latin typeface="Times New Roman"/>
                <a:cs typeface="Times New Roman"/>
              </a:rPr>
              <a:t>Phase 1: frozen backbone, train head only (10 epochs, lr=1e-4)</a:t>
            </a:r>
          </a:p>
          <a:p>
            <a:pPr marL="228600" indent="-228600" algn="l">
              <a:lnSpc>
                <a:spcPct val="125000"/>
              </a:lnSpc>
              <a:spcBef>
                <a:spcPct val="30000"/>
              </a:spcBef>
              <a:buClrTx/>
              <a:buSzTx/>
              <a:buFontTx/>
              <a:buChar char="•"/>
            </a:pPr>
            <a:r>
              <a:rPr lang="en-US" sz="2000" b="0" dirty="0">
                <a:latin typeface="Times New Roman"/>
                <a:cs typeface="Times New Roman"/>
              </a:rPr>
              <a:t>Phase 2: fine-tune last 40 layers (10 epochs, lr=1e-5) + class-weighted loss</a:t>
            </a:r>
          </a:p>
        </p:txBody>
      </p:sp>
      <p:sp>
        <p:nvSpPr>
          <p:cNvPr id="3" name="Rectangle 4">
            <a:extLst>
              <a:ext uri="{FF2B5EF4-FFF2-40B4-BE49-F238E27FC236}">
                <a16:creationId xmlns:a16="http://schemas.microsoft.com/office/drawing/2014/main" id="{47A482DE-61D2-CB8D-4B17-78381F05F9FA}"/>
              </a:ext>
            </a:extLst>
          </p:cNvPr>
          <p:cNvSpPr>
            <a:spLocks noChangeArrowheads="1"/>
          </p:cNvSpPr>
          <p:nvPr/>
        </p:nvSpPr>
        <p:spPr bwMode="auto">
          <a:xfrm>
            <a:off x="2578627" y="120000"/>
            <a:ext cx="7034746" cy="1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SHALAKA FOU</a:t>
            </a:r>
            <a:r>
              <a:rPr kumimoji="0" lang="en-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a:t>
            </a: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DATION’S</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ts val="600"/>
              </a:spcBef>
              <a:spcAft>
                <a:spcPct val="0"/>
              </a:spcAft>
              <a:buClrTx/>
              <a:buSzTx/>
              <a:buFontTx/>
              <a:buNone/>
              <a:tabLst/>
            </a:pPr>
            <a:r>
              <a:rPr kumimoji="0" lang="sa-IN" altLang="en-US" sz="2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KEYSTONE SCHOOL OF ENGINEERING</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01" name="Architecture Diagram"/>
          <p:cNvPicPr>
            <a:picLocks noChangeAspect="1"/>
          </p:cNvPicPr>
          <p:nvPr/>
        </p:nvPicPr>
        <p:blipFill>
          <a:blip r:embed="rId2"/>
          <a:stretch>
            <a:fillRect/>
          </a:stretch>
        </p:blipFill>
        <p:spPr>
          <a:xfrm>
            <a:off x="1196000" y="5169760"/>
            <a:ext cx="9800000" cy="1685000"/>
          </a:xfrm>
          <a:prstGeom prst="rect">
            <a:avLst/>
          </a:prstGeom>
        </p:spPr>
      </p:pic>
    </p:spTree>
    <p:extLst>
      <p:ext uri="{BB962C8B-B14F-4D97-AF65-F5344CB8AC3E}">
        <p14:creationId xmlns:p14="http://schemas.microsoft.com/office/powerpoint/2010/main" val="3095532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AA5C3-C7DF-423B-6DB5-069BB007D120}"/>
              </a:ext>
            </a:extLst>
          </p:cNvPr>
          <p:cNvSpPr>
            <a:spLocks noGrp="1"/>
          </p:cNvSpPr>
          <p:nvPr>
            <p:ph type="title"/>
          </p:nvPr>
        </p:nvSpPr>
        <p:spPr>
          <a:xfrm>
            <a:off x="115614" y="1312331"/>
            <a:ext cx="11960772" cy="1293028"/>
          </a:xfrm>
        </p:spPr>
        <p:txBody>
          <a:bodyPr>
            <a:normAutofit/>
          </a:bodyPr>
          <a:lstStyle/>
          <a:p>
            <a:pPr algn="ctr">
              <a:buClr>
                <a:schemeClr val="tx1"/>
              </a:buClr>
            </a:pPr>
            <a:r>
              <a:rPr lang="en-IN" sz="3600" b="1" dirty="0">
                <a:latin typeface="Arial Black" panose="020B0A04020102020204" pitchFamily="34" charset="0"/>
              </a:rPr>
              <a:t>RESULT ANALYSIS</a:t>
            </a:r>
            <a:br>
              <a:rPr lang="en-IN" sz="1400" dirty="0">
                <a:latin typeface="Arial Black" panose="020B0A04020102020204" pitchFamily="34" charset="0"/>
              </a:rPr>
            </a:br>
            <a:endParaRPr lang="en-IN" sz="3600" b="1" dirty="0">
              <a:latin typeface="Arial Black" panose="020B0A04020102020204" pitchFamily="34" charset="0"/>
            </a:endParaRPr>
          </a:p>
        </p:txBody>
      </p:sp>
      <p:sp>
        <p:nvSpPr>
          <p:cNvPr id="4" name="Rectangle 1">
            <a:extLst>
              <a:ext uri="{FF2B5EF4-FFF2-40B4-BE49-F238E27FC236}">
                <a16:creationId xmlns:a16="http://schemas.microsoft.com/office/drawing/2014/main" id="{CAA68E23-7FA8-A1B1-C1BE-A189A88A2DA6}"/>
              </a:ext>
            </a:extLst>
          </p:cNvPr>
          <p:cNvSpPr>
            <a:spLocks noGrp="1" noChangeArrowheads="1"/>
          </p:cNvSpPr>
          <p:nvPr>
            <p:ph idx="1"/>
          </p:nvPr>
        </p:nvSpPr>
        <p:spPr bwMode="auto">
          <a:xfrm>
            <a:off x="609600" y="2350000"/>
            <a:ext cx="10972800" cy="4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Autofit/>
          </a:bodyPr>
          <a:lstStyle/>
          <a:p>
            <a:pPr marL="228600" indent="-228600" algn="l">
              <a:spcBef>
                <a:spcPts val="1400"/>
              </a:spcBef>
              <a:lnSpc>
                <a:spcPct val="100000"/>
              </a:lnSpc>
              <a:spcBef>
                <a:spcPct val="45000"/>
              </a:spcBef>
              <a:buClrTx/>
              <a:buSzTx/>
              <a:buFontTx/>
              <a:buChar char="•"/>
            </a:pPr>
            <a:r>
              <a:rPr lang="en-US" sz="2000" b="1" dirty="0">
                <a:latin typeface="Times New Roman"/>
                <a:cs typeface="Times New Roman"/>
              </a:rPr>
              <a:t>Final Training Accuracy: 93.86%</a:t>
            </a:r>
            <a:endParaRPr lang="en-US" sz="2000"/>
          </a:p>
          <a:p>
            <a:pPr marL="228600" indent="-228600" algn="l">
              <a:spcBef>
                <a:spcPts val="1400"/>
              </a:spcBef>
              <a:lnSpc>
                <a:spcPct val="100000"/>
              </a:lnSpc>
              <a:spcBef>
                <a:spcPct val="45000"/>
              </a:spcBef>
              <a:buClrTx/>
              <a:buSzTx/>
              <a:buFontTx/>
              <a:buChar char="•"/>
            </a:pPr>
            <a:r>
              <a:rPr lang="en-US" sz="2000" b="1" dirty="0">
                <a:latin typeface="Times New Roman"/>
                <a:cs typeface="Times New Roman"/>
              </a:rPr>
              <a:t>Final Validation Accuracy: 92.15%</a:t>
            </a:r>
          </a:p>
          <a:p>
            <a:pPr marL="228600" indent="-228600" algn="l">
              <a:spcBef>
                <a:spcPts val="1400"/>
              </a:spcBef>
              <a:lnSpc>
                <a:spcPct val="100000"/>
              </a:lnSpc>
              <a:spcBef>
                <a:spcPct val="45000"/>
              </a:spcBef>
              <a:buClrTx/>
              <a:buSzTx/>
              <a:buFontTx/>
              <a:buChar char="•"/>
            </a:pPr>
            <a:r>
              <a:rPr lang="en-US" sz="2000" b="0" dirty="0">
                <a:latin typeface="Times New Roman"/>
                <a:cs typeface="Times New Roman"/>
              </a:rPr>
              <a:t>The gap between training and validation accuracy is small (about 1.7%), which means the model works well on new images too</a:t>
            </a:r>
          </a:p>
          <a:p>
            <a:pPr marL="228600" indent="-228600" algn="l">
              <a:spcBef>
                <a:spcPts val="1400"/>
              </a:spcBef>
              <a:lnSpc>
                <a:spcPct val="100000"/>
              </a:lnSpc>
              <a:spcBef>
                <a:spcPct val="45000"/>
              </a:spcBef>
              <a:buClrTx/>
              <a:buSzTx/>
              <a:buFontTx/>
              <a:buChar char="•"/>
            </a:pPr>
            <a:r>
              <a:rPr lang="en-US" sz="2000" b="0" dirty="0">
                <a:latin typeface="Times New Roman"/>
                <a:cs typeface="Times New Roman"/>
              </a:rPr>
              <a:t>Training in two phases (first freezing the base model, then fine-tuning it) gave much better accuracy than training in just one phase</a:t>
            </a:r>
          </a:p>
          <a:p>
            <a:pPr marL="228600" indent="-228600" algn="l">
              <a:spcBef>
                <a:spcPts val="1400"/>
              </a:spcBef>
              <a:lnSpc>
                <a:spcPct val="100000"/>
              </a:lnSpc>
              <a:spcBef>
                <a:spcPct val="45000"/>
              </a:spcBef>
              <a:buClrTx/>
              <a:buSzTx/>
              <a:buFontTx/>
              <a:buChar char="•"/>
            </a:pPr>
            <a:r>
              <a:rPr lang="en-US" sz="2000" b="0" dirty="0">
                <a:latin typeface="Times New Roman"/>
                <a:cs typeface="Times New Roman"/>
              </a:rPr>
              <a:t>Giving more importance to rare disease classes during training helped the model detect them better, without reducing overall accuracy</a:t>
            </a:r>
          </a:p>
        </p:txBody>
      </p:sp>
      <p:sp>
        <p:nvSpPr>
          <p:cNvPr id="3" name="Rectangle 4">
            <a:extLst>
              <a:ext uri="{FF2B5EF4-FFF2-40B4-BE49-F238E27FC236}">
                <a16:creationId xmlns:a16="http://schemas.microsoft.com/office/drawing/2014/main" id="{44463309-0638-6A6F-651A-7C88FEE186D1}"/>
              </a:ext>
            </a:extLst>
          </p:cNvPr>
          <p:cNvSpPr>
            <a:spLocks noChangeArrowheads="1"/>
          </p:cNvSpPr>
          <p:nvPr/>
        </p:nvSpPr>
        <p:spPr bwMode="auto">
          <a:xfrm>
            <a:off x="2578627" y="120000"/>
            <a:ext cx="7034746" cy="1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SHALAKA FOU</a:t>
            </a:r>
            <a:r>
              <a:rPr kumimoji="0" lang="en-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a:t>
            </a: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DATION’S</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ts val="600"/>
              </a:spcBef>
              <a:spcAft>
                <a:spcPct val="0"/>
              </a:spcAft>
              <a:buClrTx/>
              <a:buSzTx/>
              <a:buFontTx/>
              <a:buNone/>
              <a:tabLst/>
            </a:pPr>
            <a:r>
              <a:rPr kumimoji="0" lang="sa-IN" altLang="en-US" sz="2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KEYSTONE SCHOOL OF ENGINEERING</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6">
            <a:extLst>
              <a:ext uri="{FF2B5EF4-FFF2-40B4-BE49-F238E27FC236}">
                <a16:creationId xmlns:a16="http://schemas.microsoft.com/office/drawing/2014/main" id="{53F1C733-8496-AFB1-265F-99BCED7703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676" y="166086"/>
            <a:ext cx="1040091" cy="952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7756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AA5C3-C7DF-423B-6DB5-069BB007D120}"/>
              </a:ext>
            </a:extLst>
          </p:cNvPr>
          <p:cNvSpPr>
            <a:spLocks noGrp="1"/>
          </p:cNvSpPr>
          <p:nvPr>
            <p:ph type="title"/>
          </p:nvPr>
        </p:nvSpPr>
        <p:spPr>
          <a:xfrm>
            <a:off x="115614" y="1312331"/>
            <a:ext cx="11960772" cy="1293028"/>
          </a:xfrm>
        </p:spPr>
        <p:txBody>
          <a:bodyPr>
            <a:normAutofit/>
          </a:bodyPr>
          <a:lstStyle/>
          <a:p>
            <a:pPr algn="ctr">
              <a:buClr>
                <a:schemeClr val="tx1"/>
              </a:buClr>
            </a:pPr>
            <a:r>
              <a:rPr lang="en-IN" sz="3600" b="1" dirty="0">
                <a:latin typeface="Arial Black" panose="020B0A04020102020204" pitchFamily="34" charset="0"/>
              </a:rPr>
              <a:t>RESULT ANALYSIS</a:t>
            </a:r>
            <a:br>
              <a:rPr lang="en-IN" sz="1400" dirty="0">
                <a:latin typeface="Arial Black" panose="020B0A04020102020204" pitchFamily="34" charset="0"/>
              </a:rPr>
            </a:br>
            <a:endParaRPr lang="en-IN" sz="3600" b="1" dirty="0">
              <a:latin typeface="Arial Black" panose="020B0A04020102020204" pitchFamily="34" charset="0"/>
            </a:endParaRPr>
          </a:p>
        </p:txBody>
      </p:sp>
      <p:sp>
        <p:nvSpPr>
          <p:cNvPr id="4" name="Rectangle 1">
            <a:extLst>
              <a:ext uri="{FF2B5EF4-FFF2-40B4-BE49-F238E27FC236}">
                <a16:creationId xmlns:a16="http://schemas.microsoft.com/office/drawing/2014/main" id="{CAA68E23-7FA8-A1B1-C1BE-A189A88A2DA6}"/>
              </a:ext>
            </a:extLst>
          </p:cNvPr>
          <p:cNvSpPr>
            <a:spLocks noGrp="1" noChangeArrowheads="1"/>
          </p:cNvSpPr>
          <p:nvPr>
            <p:ph idx="1"/>
          </p:nvPr>
        </p:nvSpPr>
        <p:spPr bwMode="auto">
          <a:xfrm>
            <a:off x="609600" y="2300000"/>
            <a:ext cx="10972800" cy="20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Autofit/>
          </a:bodyPr>
          <a:lstStyle/>
          <a:p>
            <a:pPr marL="228600" indent="-228600" algn="l">
              <a:lnSpc>
                <a:spcPct val="100000"/>
              </a:lnSpc>
              <a:spcBef>
                <a:spcPct val="35000"/>
              </a:spcBef>
              <a:buClrTx/>
              <a:buSzTx/>
              <a:buFontTx/>
              <a:buChar char="•"/>
            </a:pPr>
            <a:r>
              <a:rPr lang="en-US" sz="2000" b="0" dirty="0">
                <a:latin typeface="Times New Roman"/>
                <a:cs typeface="Times New Roman"/>
              </a:rPr>
              <a:t>Overall weighted-average F1-score: 0.92 across all 10 disease classes</a:t>
            </a:r>
            <a:endParaRPr lang="en-US"/>
          </a:p>
          <a:p>
            <a:pPr marL="228600" indent="-228600" algn="l">
              <a:lnSpc>
                <a:spcPct val="100000"/>
              </a:lnSpc>
              <a:spcBef>
                <a:spcPct val="35000"/>
              </a:spcBef>
              <a:buClrTx/>
              <a:buSzTx/>
              <a:buFontTx/>
              <a:buChar char="•"/>
            </a:pPr>
            <a:r>
              <a:rPr lang="en-US" sz="2000" b="0" dirty="0">
                <a:latin typeface="Times New Roman"/>
                <a:cs typeface="Times New Roman"/>
              </a:rPr>
              <a:t>Highest F1-scores: Healthy (0.97) and Late Blight (0.96) – excellent detection</a:t>
            </a:r>
          </a:p>
          <a:p>
            <a:pPr marL="228600" indent="-228600" algn="l">
              <a:lnSpc>
                <a:spcPct val="100000"/>
              </a:lnSpc>
              <a:spcBef>
                <a:spcPct val="35000"/>
              </a:spcBef>
              <a:buClrTx/>
              <a:buSzTx/>
              <a:buFontTx/>
              <a:buChar char="•"/>
            </a:pPr>
            <a:r>
              <a:rPr lang="en-US" sz="2000" b="0" dirty="0">
                <a:latin typeface="Times New Roman"/>
                <a:cs typeface="Times New Roman"/>
              </a:rPr>
              <a:t>Yellow Leaf Curl Virus and Tomato Mosaic Virus also score strongly (F1 = 0.96 and 0.89)</a:t>
            </a:r>
          </a:p>
          <a:p>
            <a:pPr marL="228600" indent="-228600" algn="l">
              <a:lnSpc>
                <a:spcPct val="100000"/>
              </a:lnSpc>
              <a:spcBef>
                <a:spcPct val="35000"/>
              </a:spcBef>
              <a:buClrTx/>
              <a:buSzTx/>
              <a:buFontTx/>
              <a:buChar char="•"/>
            </a:pPr>
            <a:r>
              <a:rPr lang="en-US" sz="2000" b="0" dirty="0">
                <a:latin typeface="Times New Roman"/>
                <a:cs typeface="Times New Roman"/>
              </a:rPr>
              <a:t>Lowest F1-score: Early Blight (0.82) – still acceptable</a:t>
            </a:r>
          </a:p>
        </p:txBody>
      </p:sp>
      <p:sp>
        <p:nvSpPr>
          <p:cNvPr id="3" name="Rectangle 4">
            <a:extLst>
              <a:ext uri="{FF2B5EF4-FFF2-40B4-BE49-F238E27FC236}">
                <a16:creationId xmlns:a16="http://schemas.microsoft.com/office/drawing/2014/main" id="{44463309-0638-6A6F-651A-7C88FEE186D1}"/>
              </a:ext>
            </a:extLst>
          </p:cNvPr>
          <p:cNvSpPr>
            <a:spLocks noChangeArrowheads="1"/>
          </p:cNvSpPr>
          <p:nvPr/>
        </p:nvSpPr>
        <p:spPr bwMode="auto">
          <a:xfrm>
            <a:off x="2578627" y="120000"/>
            <a:ext cx="7034746" cy="1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SHALAKA FOU</a:t>
            </a:r>
            <a:r>
              <a:rPr kumimoji="0" lang="en-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a:t>
            </a: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DATION’S</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ts val="600"/>
              </a:spcBef>
              <a:spcAft>
                <a:spcPct val="0"/>
              </a:spcAft>
              <a:buClrTx/>
              <a:buSzTx/>
              <a:buFontTx/>
              <a:buNone/>
              <a:tabLst/>
            </a:pPr>
            <a:r>
              <a:rPr kumimoji="0" lang="sa-IN" altLang="en-US" sz="2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KEYSTONE SCHOOL OF ENGINEERING</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263F4C6E-DA9A-7ADB-6DB5-DB4F468695D9}"/>
              </a:ext>
            </a:extLst>
          </p:cNvPr>
          <p:cNvPicPr>
            <a:picLocks noChangeAspect="1"/>
          </p:cNvPicPr>
          <p:nvPr/>
        </p:nvPicPr>
        <p:blipFill>
          <a:blip r:embed="rId2"/>
          <a:stretch>
            <a:fillRect/>
          </a:stretch>
        </p:blipFill>
        <p:spPr>
          <a:xfrm>
            <a:off x="3472180" y="4277043"/>
            <a:ext cx="5257800" cy="2581275"/>
          </a:xfrm>
          <a:prstGeom prst="rect">
            <a:avLst/>
          </a:prstGeom>
        </p:spPr>
      </p:pic>
    </p:spTree>
    <p:extLst>
      <p:ext uri="{BB962C8B-B14F-4D97-AF65-F5344CB8AC3E}">
        <p14:creationId xmlns:p14="http://schemas.microsoft.com/office/powerpoint/2010/main" val="3137756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14149-16CD-5D80-4B3D-38C4DB03CF04}"/>
              </a:ext>
            </a:extLst>
          </p:cNvPr>
          <p:cNvSpPr>
            <a:spLocks noGrp="1"/>
          </p:cNvSpPr>
          <p:nvPr>
            <p:ph type="title"/>
          </p:nvPr>
        </p:nvSpPr>
        <p:spPr>
          <a:xfrm>
            <a:off x="2015359" y="855974"/>
            <a:ext cx="8610600" cy="1293028"/>
          </a:xfrm>
        </p:spPr>
        <p:txBody>
          <a:bodyPr>
            <a:normAutofit/>
          </a:bodyPr>
          <a:lstStyle/>
          <a:p>
            <a:pPr algn="ctr">
              <a:buClr>
                <a:schemeClr val="tx1"/>
              </a:buClr>
            </a:pPr>
            <a:br>
              <a:rPr lang="en-IN" sz="1400" dirty="0">
                <a:latin typeface="Arial Black" panose="020B0A04020102020204" pitchFamily="34" charset="0"/>
              </a:rPr>
            </a:br>
            <a:r>
              <a:rPr lang="en-IN" sz="3600" b="1" dirty="0">
                <a:latin typeface="Arial Black" panose="020B0A04020102020204" pitchFamily="34" charset="0"/>
              </a:rPr>
              <a:t>CONCLUSION</a:t>
            </a:r>
          </a:p>
        </p:txBody>
      </p:sp>
      <p:sp>
        <p:nvSpPr>
          <p:cNvPr id="4" name="Rectangle 1">
            <a:extLst>
              <a:ext uri="{FF2B5EF4-FFF2-40B4-BE49-F238E27FC236}">
                <a16:creationId xmlns:a16="http://schemas.microsoft.com/office/drawing/2014/main" id="{68714E93-03EB-FBF1-4506-5AC7BC8D5ABE}"/>
              </a:ext>
            </a:extLst>
          </p:cNvPr>
          <p:cNvSpPr>
            <a:spLocks noGrp="1" noChangeArrowheads="1"/>
          </p:cNvSpPr>
          <p:nvPr>
            <p:ph idx="1"/>
          </p:nvPr>
        </p:nvSpPr>
        <p:spPr bwMode="auto">
          <a:xfrm>
            <a:off x="609600" y="2350000"/>
            <a:ext cx="10972800" cy="4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lnSpcReduction="10000"/>
          </a:bodyPr>
          <a:lstStyle/>
          <a:p>
            <a:pPr marL="228600" indent="-228600" algn="l">
              <a:spcBef>
                <a:spcPts val="1400"/>
              </a:spcBef>
              <a:lnSpc>
                <a:spcPct val="100000"/>
              </a:lnSpc>
              <a:spcBef>
                <a:spcPct val="45000"/>
              </a:spcBef>
              <a:buClrTx/>
              <a:buSzTx/>
              <a:buFontTx/>
              <a:buChar char="•"/>
            </a:pPr>
            <a:r>
              <a:rPr lang="en-US" sz="2000" b="0" dirty="0">
                <a:solidFill>
                  <a:schemeClr val="tx1"/>
                </a:solidFill>
                <a:latin typeface="Times New Roman" pitchFamily="18" charset="0"/>
                <a:cs typeface="Times New Roman" pitchFamily="18" charset="0"/>
              </a:rPr>
              <a:t>Built a tomato leaf disease classifier using a CNN model (MobileNetV2) with transfer learning</a:t>
            </a:r>
            <a:endParaRPr lang="en-US"/>
          </a:p>
          <a:p>
            <a:pPr marL="228600" indent="-228600" algn="l">
              <a:spcBef>
                <a:spcPts val="1400"/>
              </a:spcBef>
              <a:lnSpc>
                <a:spcPct val="100000"/>
              </a:lnSpc>
              <a:spcBef>
                <a:spcPct val="45000"/>
              </a:spcBef>
              <a:buClrTx/>
              <a:buSzTx/>
              <a:buFontTx/>
              <a:buChar char="•"/>
            </a:pPr>
            <a:r>
              <a:rPr lang="en-US" sz="2000" b="0" dirty="0">
                <a:solidFill>
                  <a:schemeClr val="tx1"/>
                </a:solidFill>
                <a:latin typeface="Times New Roman" pitchFamily="18" charset="0"/>
                <a:cs typeface="Times New Roman" pitchFamily="18" charset="0"/>
              </a:rPr>
              <a:t>Two-phase training gave 93.86% training accuracy and 92.15% validation accuracy</a:t>
            </a:r>
          </a:p>
          <a:p>
            <a:pPr marL="228600" indent="-228600" algn="l">
              <a:spcBef>
                <a:spcPts val="1400"/>
              </a:spcBef>
              <a:lnSpc>
                <a:spcPct val="100000"/>
              </a:lnSpc>
              <a:spcBef>
                <a:spcPct val="45000"/>
              </a:spcBef>
              <a:buClrTx/>
              <a:buSzTx/>
              <a:buFontTx/>
              <a:buChar char="•"/>
            </a:pPr>
            <a:r>
              <a:rPr lang="en-US" sz="2000" b="0" dirty="0">
                <a:solidFill>
                  <a:schemeClr val="tx1"/>
                </a:solidFill>
                <a:latin typeface="Times New Roman" pitchFamily="18" charset="0"/>
                <a:cs typeface="Times New Roman" pitchFamily="18" charset="0"/>
              </a:rPr>
              <a:t>Giving extra weight to rare classes improved detection of Early Blight and Mosaic Virus</a:t>
            </a:r>
          </a:p>
          <a:p>
            <a:pPr marL="228600" indent="-228600" algn="l">
              <a:spcBef>
                <a:spcPts val="1400"/>
              </a:spcBef>
              <a:lnSpc>
                <a:spcPct val="100000"/>
              </a:lnSpc>
              <a:spcBef>
                <a:spcPct val="45000"/>
              </a:spcBef>
              <a:buClrTx/>
              <a:buSzTx/>
              <a:buFontTx/>
              <a:buChar char="•"/>
            </a:pPr>
            <a:r>
              <a:rPr lang="en-US" sz="2000" b="0" dirty="0">
                <a:solidFill>
                  <a:schemeClr val="tx1"/>
                </a:solidFill>
                <a:latin typeface="Times New Roman" pitchFamily="18" charset="0"/>
                <a:cs typeface="Times New Roman" pitchFamily="18" charset="0"/>
              </a:rPr>
              <a:t>The small gap (about 1.7%) between training and validation accuracy shows the model works well on new, unseen images</a:t>
            </a:r>
          </a:p>
          <a:p>
            <a:pPr marL="228600" indent="-228600" algn="l">
              <a:spcBef>
                <a:spcPts val="1400"/>
              </a:spcBef>
              <a:lnSpc>
                <a:spcPct val="100000"/>
              </a:lnSpc>
              <a:spcBef>
                <a:spcPct val="45000"/>
              </a:spcBef>
              <a:buClrTx/>
              <a:buSzTx/>
              <a:buFontTx/>
              <a:buChar char="•"/>
            </a:pPr>
            <a:r>
              <a:rPr lang="en-US" sz="2000" b="0" dirty="0">
                <a:solidFill>
                  <a:schemeClr val="tx1"/>
                </a:solidFill>
                <a:latin typeface="Times New Roman" pitchFamily="18" charset="0"/>
                <a:cs typeface="Times New Roman" pitchFamily="18" charset="0"/>
              </a:rPr>
              <a:t>This is a lightweight solution that can be used on real farms for quick, real-time disease detection</a:t>
            </a:r>
          </a:p>
        </p:txBody>
      </p:sp>
      <p:sp>
        <p:nvSpPr>
          <p:cNvPr id="3" name="Rectangle 4">
            <a:extLst>
              <a:ext uri="{FF2B5EF4-FFF2-40B4-BE49-F238E27FC236}">
                <a16:creationId xmlns:a16="http://schemas.microsoft.com/office/drawing/2014/main" id="{59D34869-20EA-9A9F-FD9B-C8B5CC57779F}"/>
              </a:ext>
            </a:extLst>
          </p:cNvPr>
          <p:cNvSpPr>
            <a:spLocks noChangeArrowheads="1"/>
          </p:cNvSpPr>
          <p:nvPr/>
        </p:nvSpPr>
        <p:spPr bwMode="auto">
          <a:xfrm>
            <a:off x="2578627" y="120000"/>
            <a:ext cx="7034746" cy="1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SHALAKA FOU</a:t>
            </a:r>
            <a:r>
              <a:rPr kumimoji="0" lang="en-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a:t>
            </a: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DATION’S</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ts val="600"/>
              </a:spcBef>
              <a:spcAft>
                <a:spcPct val="0"/>
              </a:spcAft>
              <a:buClrTx/>
              <a:buSzTx/>
              <a:buFontTx/>
              <a:buNone/>
              <a:tabLst/>
            </a:pPr>
            <a:r>
              <a:rPr kumimoji="0" lang="sa-IN" altLang="en-US" sz="2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KEYSTONE SCHOOL OF ENGINEERING</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6">
            <a:extLst>
              <a:ext uri="{FF2B5EF4-FFF2-40B4-BE49-F238E27FC236}">
                <a16:creationId xmlns:a16="http://schemas.microsoft.com/office/drawing/2014/main" id="{4B31136E-2771-CDA3-6C1B-F827CA5644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676" y="166086"/>
            <a:ext cx="1040091" cy="952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4901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14149-16CD-5D80-4B3D-38C4DB03CF04}"/>
              </a:ext>
            </a:extLst>
          </p:cNvPr>
          <p:cNvSpPr>
            <a:spLocks noGrp="1"/>
          </p:cNvSpPr>
          <p:nvPr>
            <p:ph type="title"/>
          </p:nvPr>
        </p:nvSpPr>
        <p:spPr>
          <a:xfrm>
            <a:off x="1665890" y="1178348"/>
            <a:ext cx="8610600" cy="1293028"/>
          </a:xfrm>
        </p:spPr>
        <p:txBody>
          <a:bodyPr>
            <a:normAutofit/>
          </a:bodyPr>
          <a:lstStyle/>
          <a:p>
            <a:pPr algn="ctr">
              <a:buClr>
                <a:schemeClr val="tx1"/>
              </a:buClr>
            </a:pPr>
            <a:r>
              <a:rPr lang="en-IN" sz="3600" b="1" dirty="0">
                <a:latin typeface="Arial Black" panose="020B0A04020102020204" pitchFamily="34" charset="0"/>
              </a:rPr>
              <a:t>FUTURE SCOPE</a:t>
            </a:r>
            <a:br>
              <a:rPr lang="en-IN" sz="1400" dirty="0">
                <a:latin typeface="Arial Black" panose="020B0A04020102020204" pitchFamily="34" charset="0"/>
              </a:rPr>
            </a:br>
            <a:endParaRPr lang="en-IN" sz="3600" b="1" dirty="0">
              <a:latin typeface="Arial Black" panose="020B0A04020102020204" pitchFamily="34" charset="0"/>
            </a:endParaRPr>
          </a:p>
        </p:txBody>
      </p:sp>
      <p:sp>
        <p:nvSpPr>
          <p:cNvPr id="4" name="Rectangle 1">
            <a:extLst>
              <a:ext uri="{FF2B5EF4-FFF2-40B4-BE49-F238E27FC236}">
                <a16:creationId xmlns:a16="http://schemas.microsoft.com/office/drawing/2014/main" id="{68714E93-03EB-FBF1-4506-5AC7BC8D5ABE}"/>
              </a:ext>
            </a:extLst>
          </p:cNvPr>
          <p:cNvSpPr>
            <a:spLocks noGrp="1" noChangeArrowheads="1"/>
          </p:cNvSpPr>
          <p:nvPr>
            <p:ph idx="1"/>
          </p:nvPr>
        </p:nvSpPr>
        <p:spPr bwMode="auto">
          <a:xfrm>
            <a:off x="609600" y="2350000"/>
            <a:ext cx="10972800" cy="4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Autofit/>
          </a:bodyPr>
          <a:lstStyle/>
          <a:p>
            <a:pPr marL="228600" indent="-228600" algn="l">
              <a:lnSpc>
                <a:spcPct val="100000"/>
              </a:lnSpc>
              <a:spcBef>
                <a:spcPct val="45000"/>
              </a:spcBef>
              <a:buClrTx/>
              <a:buSzTx/>
              <a:buFontTx/>
              <a:buChar char="•"/>
            </a:pPr>
            <a:r>
              <a:rPr lang="en-US" sz="2000" b="0" dirty="0">
                <a:latin typeface="Times New Roman"/>
                <a:cs typeface="Times New Roman"/>
              </a:rPr>
              <a:t>Try bigger and stronger deep learning models to push accuracy even higher than 92%</a:t>
            </a:r>
            <a:endParaRPr lang="en-US" sz="2000" dirty="0">
              <a:latin typeface="Times New Roman"/>
              <a:cs typeface="Times New Roman"/>
            </a:endParaRPr>
          </a:p>
          <a:p>
            <a:pPr marL="228600" indent="-228600" algn="l">
              <a:lnSpc>
                <a:spcPct val="100000"/>
              </a:lnSpc>
              <a:spcBef>
                <a:spcPct val="45000"/>
              </a:spcBef>
              <a:buClrTx/>
              <a:buSzTx/>
              <a:buFontTx/>
              <a:buChar char="•"/>
            </a:pPr>
            <a:r>
              <a:rPr lang="en-US" sz="2000" b="0" dirty="0">
                <a:latin typeface="Times New Roman"/>
                <a:cs typeface="Times New Roman"/>
              </a:rPr>
              <a:t>Test the model on real farm photos taken in sunlight, shadow, and different backgrounds – not just clean lab photos</a:t>
            </a:r>
          </a:p>
          <a:p>
            <a:pPr marL="228600" indent="-228600" algn="l">
              <a:lnSpc>
                <a:spcPct val="100000"/>
              </a:lnSpc>
              <a:spcBef>
                <a:spcPct val="45000"/>
              </a:spcBef>
              <a:buClrTx/>
              <a:buSzTx/>
              <a:buFontTx/>
              <a:buChar char="•"/>
            </a:pPr>
            <a:r>
              <a:rPr lang="en-US" sz="2000" b="0" dirty="0">
                <a:latin typeface="Times New Roman"/>
                <a:cs typeface="Times New Roman"/>
              </a:rPr>
              <a:t>Combine multiple models together (called ensemble learning) so their combined guess is more accurate than any single model</a:t>
            </a:r>
          </a:p>
          <a:p>
            <a:pPr marL="228600" indent="-228600" algn="l">
              <a:lnSpc>
                <a:spcPct val="100000"/>
              </a:lnSpc>
              <a:spcBef>
                <a:spcPct val="45000"/>
              </a:spcBef>
              <a:buClrTx/>
              <a:buSzTx/>
              <a:buFontTx/>
              <a:buChar char="•"/>
            </a:pPr>
            <a:r>
              <a:rPr lang="en-US" sz="2000" b="0" dirty="0">
                <a:latin typeface="Times New Roman"/>
                <a:cs typeface="Times New Roman"/>
              </a:rPr>
              <a:t>Turn this into a simple, easy-to-use mobile app so farmers can click a photo and get instant disease results in the field</a:t>
            </a:r>
          </a:p>
          <a:p>
            <a:pPr marL="228600" indent="-228600" algn="l">
              <a:lnSpc>
                <a:spcPct val="100000"/>
              </a:lnSpc>
              <a:spcBef>
                <a:spcPct val="45000"/>
              </a:spcBef>
              <a:buClrTx/>
              <a:buSzTx/>
              <a:buFontTx/>
              <a:buChar char="•"/>
            </a:pPr>
            <a:r>
              <a:rPr lang="en-US" sz="2000" b="0" dirty="0">
                <a:latin typeface="Times New Roman"/>
                <a:cs typeface="Times New Roman"/>
              </a:rPr>
              <a:t>Add support for other crops like potato, chilli, and grapes, so more farmers can benefit from this system</a:t>
            </a:r>
          </a:p>
        </p:txBody>
      </p:sp>
      <p:sp>
        <p:nvSpPr>
          <p:cNvPr id="3" name="Rectangle 4">
            <a:extLst>
              <a:ext uri="{FF2B5EF4-FFF2-40B4-BE49-F238E27FC236}">
                <a16:creationId xmlns:a16="http://schemas.microsoft.com/office/drawing/2014/main" id="{B9A6F678-5E05-BA13-E782-300834CD45DB}"/>
              </a:ext>
            </a:extLst>
          </p:cNvPr>
          <p:cNvSpPr>
            <a:spLocks noChangeArrowheads="1"/>
          </p:cNvSpPr>
          <p:nvPr/>
        </p:nvSpPr>
        <p:spPr bwMode="auto">
          <a:xfrm>
            <a:off x="2578627" y="120000"/>
            <a:ext cx="7034746" cy="1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SHALAKA FOU</a:t>
            </a:r>
            <a:r>
              <a:rPr kumimoji="0" lang="en-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a:t>
            </a: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DATION’S</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ts val="600"/>
              </a:spcBef>
              <a:spcAft>
                <a:spcPct val="0"/>
              </a:spcAft>
              <a:buClrTx/>
              <a:buSzTx/>
              <a:buFontTx/>
              <a:buNone/>
              <a:tabLst/>
            </a:pPr>
            <a:r>
              <a:rPr kumimoji="0" lang="sa-IN" altLang="en-US" sz="2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KEYSTONE SCHOOL OF ENGINEERING</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6">
            <a:extLst>
              <a:ext uri="{FF2B5EF4-FFF2-40B4-BE49-F238E27FC236}">
                <a16:creationId xmlns:a16="http://schemas.microsoft.com/office/drawing/2014/main" id="{CC54E9B9-FC05-5764-FC06-127DFEB4CD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676" y="166086"/>
            <a:ext cx="1040091" cy="952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9578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14149-16CD-5D80-4B3D-38C4DB03CF04}"/>
              </a:ext>
            </a:extLst>
          </p:cNvPr>
          <p:cNvSpPr>
            <a:spLocks noGrp="1"/>
          </p:cNvSpPr>
          <p:nvPr>
            <p:ph type="title"/>
          </p:nvPr>
        </p:nvSpPr>
        <p:spPr>
          <a:xfrm>
            <a:off x="1591003" y="1093076"/>
            <a:ext cx="8610600" cy="1293028"/>
          </a:xfrm>
        </p:spPr>
        <p:txBody>
          <a:bodyPr>
            <a:normAutofit/>
          </a:bodyPr>
          <a:lstStyle/>
          <a:p>
            <a:pPr algn="ctr">
              <a:buClr>
                <a:schemeClr val="tx1"/>
              </a:buClr>
            </a:pPr>
            <a:r>
              <a:rPr lang="en-IN" sz="3600" b="1" dirty="0">
                <a:latin typeface="Arial Black" panose="020B0A04020102020204" pitchFamily="34" charset="0"/>
              </a:rPr>
              <a:t> REFERENCES</a:t>
            </a:r>
            <a:br>
              <a:rPr lang="en-IN" sz="1400" dirty="0">
                <a:latin typeface="Arial Black" panose="020B0A04020102020204" pitchFamily="34" charset="0"/>
              </a:rPr>
            </a:br>
            <a:endParaRPr lang="en-IN" sz="3600" b="1" dirty="0">
              <a:latin typeface="Arial Black" panose="020B0A04020102020204" pitchFamily="34" charset="0"/>
            </a:endParaRPr>
          </a:p>
        </p:txBody>
      </p:sp>
      <p:sp>
        <p:nvSpPr>
          <p:cNvPr id="4" name="Rectangle 1">
            <a:extLst>
              <a:ext uri="{FF2B5EF4-FFF2-40B4-BE49-F238E27FC236}">
                <a16:creationId xmlns:a16="http://schemas.microsoft.com/office/drawing/2014/main" id="{68714E93-03EB-FBF1-4506-5AC7BC8D5ABE}"/>
              </a:ext>
            </a:extLst>
          </p:cNvPr>
          <p:cNvSpPr>
            <a:spLocks noGrp="1" noChangeArrowheads="1"/>
          </p:cNvSpPr>
          <p:nvPr>
            <p:ph idx="1"/>
          </p:nvPr>
        </p:nvSpPr>
        <p:spPr bwMode="auto">
          <a:xfrm>
            <a:off x="700000" y="1985840"/>
            <a:ext cx="10974880" cy="4664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marL="0" indent="0">
              <a:lnSpc>
                <a:spcPct val="100000"/>
              </a:lnSpc>
              <a:spcAft>
                <a:spcPts val="400"/>
              </a:spcAft>
              <a:buNone/>
            </a:pPr>
            <a:r>
              <a:rPr lang="en-US" sz="1400" dirty="0">
                <a:latin typeface="Times New Roman"/>
                <a:cs typeface="Times New Roman"/>
              </a:rPr>
              <a:t>[1] H. Ghosh, I. S. Rahat, M. M. R. Emon et al., "Advanced neural network architectures for tomato leaf disease diagnosis," Discover Sustainability, vol. 6, art. 312, 2025.</a:t>
            </a:r>
            <a:endParaRPr lang="en-US" sz="1400"/>
          </a:p>
          <a:p>
            <a:pPr marL="0" indent="0">
              <a:lnSpc>
                <a:spcPct val="100000"/>
              </a:lnSpc>
              <a:spcAft>
                <a:spcPts val="800"/>
              </a:spcAft>
              <a:buNone/>
            </a:pPr>
            <a:r>
              <a:rPr lang="en-US" sz="1400" u="sng" dirty="0">
                <a:solidFill>
                  <a:srgbClr val="1155CC"/>
                </a:solidFill>
                <a:latin typeface="Times New Roman"/>
                <a:cs typeface="Times New Roman"/>
                <a:hlinkClick r:id="rId2"/>
              </a:rPr>
              <a:t>https://doi.org/10.1007/s43621-025-01149-1</a:t>
            </a:r>
            <a:endParaRPr lang="en-US" sz="1400" u="sng">
              <a:solidFill>
                <a:srgbClr val="1155CC"/>
              </a:solidFill>
              <a:latin typeface="Times New Roman"/>
              <a:cs typeface="Times New Roman"/>
              <a:hlinkClick r:id="" action="ppaction://noaction"/>
            </a:endParaRPr>
          </a:p>
          <a:p>
            <a:pPr marL="0" indent="0">
              <a:lnSpc>
                <a:spcPct val="100000"/>
              </a:lnSpc>
              <a:spcAft>
                <a:spcPts val="400"/>
              </a:spcAft>
              <a:buNone/>
            </a:pPr>
            <a:r>
              <a:rPr lang="en-US" sz="1400" dirty="0">
                <a:latin typeface="Times New Roman"/>
                <a:cs typeface="Times New Roman"/>
              </a:rPr>
              <a:t>[2] S. Das and M. R. Senapati, "Optimized deep CNN architectures for multiclass detection of tomato leaf diseases," Intelligent Systems, ICMIB 2025, Springer, 2026.</a:t>
            </a:r>
            <a:endParaRPr lang="en-US" sz="1400" u="sng">
              <a:solidFill>
                <a:srgbClr val="1155CC"/>
              </a:solidFill>
              <a:latin typeface="Times New Roman"/>
              <a:cs typeface="Times New Roman"/>
              <a:hlinkClick r:id="" action="ppaction://noaction"/>
            </a:endParaRPr>
          </a:p>
          <a:p>
            <a:pPr marL="0" indent="0">
              <a:lnSpc>
                <a:spcPct val="100000"/>
              </a:lnSpc>
              <a:spcAft>
                <a:spcPts val="400"/>
              </a:spcAft>
              <a:buNone/>
            </a:pPr>
            <a:r>
              <a:rPr lang="en-US" sz="1400" u="sng" dirty="0">
                <a:solidFill>
                  <a:srgbClr val="1155CC"/>
                </a:solidFill>
                <a:latin typeface="Times New Roman"/>
                <a:cs typeface="Times New Roman"/>
                <a:hlinkClick r:id="rId3"/>
              </a:rPr>
              <a:t>https://doi.org/10.1007/978-3-032-05120-2_18</a:t>
            </a:r>
            <a:endParaRPr lang="en-US" sz="1400" u="sng">
              <a:solidFill>
                <a:srgbClr val="1155CC"/>
              </a:solidFill>
              <a:latin typeface="Times New Roman"/>
              <a:cs typeface="Times New Roman"/>
              <a:hlinkClick r:id="" action="ppaction://noaction"/>
            </a:endParaRPr>
          </a:p>
          <a:p>
            <a:pPr marL="0" indent="0">
              <a:lnSpc>
                <a:spcPct val="100000"/>
              </a:lnSpc>
              <a:spcAft>
                <a:spcPts val="400"/>
              </a:spcAft>
              <a:buNone/>
            </a:pPr>
            <a:r>
              <a:rPr lang="en-US" sz="1400" dirty="0">
                <a:latin typeface="Times New Roman"/>
                <a:cs typeface="Times New Roman"/>
              </a:rPr>
              <a:t>[3] M. Saradha et al., "An automated approach using hybrid CNN to recognize and classify tomato leaf diseases," Recent Trends in Intelligence Enabled Research, ISSIP 2025, Springer, 2026, pp. 49-61.</a:t>
            </a:r>
          </a:p>
          <a:p>
            <a:pPr marL="0" indent="0">
              <a:lnSpc>
                <a:spcPct val="100000"/>
              </a:lnSpc>
              <a:spcAft>
                <a:spcPts val="800"/>
              </a:spcAft>
              <a:buNone/>
            </a:pPr>
            <a:r>
              <a:rPr lang="en-US" sz="1400" u="sng" dirty="0">
                <a:solidFill>
                  <a:srgbClr val="1155CC"/>
                </a:solidFill>
                <a:latin typeface="Times New Roman"/>
                <a:cs typeface="Times New Roman"/>
                <a:hlinkClick r:id="rId4"/>
              </a:rPr>
              <a:t>https://doi.org/10.1007/978-3-032-25038-4_5</a:t>
            </a:r>
            <a:endParaRPr lang="en-US" sz="1400" u="sng">
              <a:solidFill>
                <a:srgbClr val="1155CC"/>
              </a:solidFill>
              <a:latin typeface="Times New Roman"/>
              <a:cs typeface="Times New Roman"/>
              <a:hlinkClick r:id="" action="ppaction://noaction"/>
            </a:endParaRPr>
          </a:p>
          <a:p>
            <a:pPr marL="0" indent="0">
              <a:lnSpc>
                <a:spcPct val="100000"/>
              </a:lnSpc>
              <a:spcAft>
                <a:spcPts val="400"/>
              </a:spcAft>
              <a:buNone/>
            </a:pPr>
            <a:r>
              <a:rPr lang="en-US" sz="1400" dirty="0">
                <a:latin typeface="Times New Roman"/>
                <a:cs typeface="Times New Roman"/>
              </a:rPr>
              <a:t>[4] B. Lopez-Velasco, J. C. Olguin-Rojas, and A. Ruiz-Garcia, "Classification of foliar diseases in tomato crops using CNNs," MICAI 2025, Springer, 2026, pp. 260-271.</a:t>
            </a:r>
          </a:p>
          <a:p>
            <a:pPr marL="0" indent="0">
              <a:lnSpc>
                <a:spcPct val="100000"/>
              </a:lnSpc>
              <a:spcAft>
                <a:spcPts val="800"/>
              </a:spcAft>
              <a:buNone/>
            </a:pPr>
            <a:r>
              <a:rPr lang="en-US" sz="1400" u="sng" dirty="0">
                <a:solidFill>
                  <a:srgbClr val="1155CC"/>
                </a:solidFill>
                <a:latin typeface="Times New Roman"/>
                <a:cs typeface="Times New Roman"/>
                <a:hlinkClick r:id="rId5"/>
              </a:rPr>
              <a:t>https://doi.org/10.1007/978-3-032-09044-7_19</a:t>
            </a:r>
            <a:endParaRPr lang="en-US" sz="1400" u="sng">
              <a:solidFill>
                <a:srgbClr val="1155CC"/>
              </a:solidFill>
              <a:latin typeface="Times New Roman"/>
              <a:cs typeface="Times New Roman"/>
              <a:hlinkClick r:id="" action="ppaction://noaction"/>
            </a:endParaRPr>
          </a:p>
          <a:p>
            <a:pPr marL="0" indent="0">
              <a:lnSpc>
                <a:spcPct val="100000"/>
              </a:lnSpc>
              <a:spcAft>
                <a:spcPts val="400"/>
              </a:spcAft>
              <a:buNone/>
            </a:pPr>
            <a:r>
              <a:rPr lang="en-US" sz="1400" dirty="0">
                <a:latin typeface="Times New Roman"/>
                <a:cs typeface="Times New Roman"/>
              </a:rPr>
              <a:t>[5] S. Trisha et al., "Tomato leaf disease detection using CNN," Applied Artificial Intelligence, 2AI 2024, Springer, 2026, pp. 315-328.</a:t>
            </a:r>
          </a:p>
          <a:p>
            <a:pPr marL="0" indent="0">
              <a:lnSpc>
                <a:spcPct val="100000"/>
              </a:lnSpc>
              <a:spcAft>
                <a:spcPts val="800"/>
              </a:spcAft>
              <a:buNone/>
            </a:pPr>
            <a:r>
              <a:rPr lang="en-US" sz="1400" u="sng" dirty="0">
                <a:solidFill>
                  <a:srgbClr val="1155CC"/>
                </a:solidFill>
                <a:latin typeface="Times New Roman"/>
                <a:cs typeface="Times New Roman"/>
                <a:hlinkClick r:id="rId6"/>
              </a:rPr>
              <a:t>https://doi.org/10.1007/978-3-032-00793-3_25</a:t>
            </a:r>
            <a:endParaRPr lang="en-US" sz="1400" u="sng">
              <a:solidFill>
                <a:srgbClr val="1155CC"/>
              </a:solidFill>
              <a:latin typeface="Times New Roman"/>
              <a:cs typeface="Times New Roman"/>
              <a:hlinkClick r:id="" action="ppaction://noaction"/>
            </a:endParaRPr>
          </a:p>
        </p:txBody>
      </p:sp>
      <p:sp>
        <p:nvSpPr>
          <p:cNvPr id="3" name="Rectangle 4">
            <a:extLst>
              <a:ext uri="{FF2B5EF4-FFF2-40B4-BE49-F238E27FC236}">
                <a16:creationId xmlns:a16="http://schemas.microsoft.com/office/drawing/2014/main" id="{ECB20325-38D5-F465-0310-B1E07AFABD93}"/>
              </a:ext>
            </a:extLst>
          </p:cNvPr>
          <p:cNvSpPr>
            <a:spLocks noChangeArrowheads="1"/>
          </p:cNvSpPr>
          <p:nvPr/>
        </p:nvSpPr>
        <p:spPr bwMode="auto">
          <a:xfrm>
            <a:off x="2578627" y="120000"/>
            <a:ext cx="7034746" cy="1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SHALAKA FOU</a:t>
            </a:r>
            <a:r>
              <a:rPr kumimoji="0" lang="en-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a:t>
            </a: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DATION’S</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ts val="600"/>
              </a:spcBef>
              <a:spcAft>
                <a:spcPct val="0"/>
              </a:spcAft>
              <a:buClrTx/>
              <a:buSzTx/>
              <a:buFontTx/>
              <a:buNone/>
              <a:tabLst/>
            </a:pPr>
            <a:r>
              <a:rPr kumimoji="0" lang="sa-IN" altLang="en-US" sz="2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KEYSTONE SCHOOL OF ENGINEERING</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6">
            <a:extLst>
              <a:ext uri="{FF2B5EF4-FFF2-40B4-BE49-F238E27FC236}">
                <a16:creationId xmlns:a16="http://schemas.microsoft.com/office/drawing/2014/main" id="{41A614E0-587E-03DC-0944-7D3EA5B425F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8676" y="166086"/>
            <a:ext cx="1040091" cy="952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712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14149-16CD-5D80-4B3D-38C4DB03CF04}"/>
              </a:ext>
            </a:extLst>
          </p:cNvPr>
          <p:cNvSpPr>
            <a:spLocks noGrp="1"/>
          </p:cNvSpPr>
          <p:nvPr>
            <p:ph type="title"/>
          </p:nvPr>
        </p:nvSpPr>
        <p:spPr>
          <a:xfrm>
            <a:off x="1591003" y="1093076"/>
            <a:ext cx="8610600" cy="1293028"/>
          </a:xfrm>
        </p:spPr>
        <p:txBody>
          <a:bodyPr>
            <a:normAutofit/>
          </a:bodyPr>
          <a:lstStyle/>
          <a:p>
            <a:pPr algn="ctr">
              <a:buClr>
                <a:schemeClr val="tx1"/>
              </a:buClr>
            </a:pPr>
            <a:r>
              <a:rPr lang="en-IN" sz="3600" b="1" dirty="0">
                <a:latin typeface="Arial Black" panose="020B0A04020102020204" pitchFamily="34" charset="0"/>
              </a:rPr>
              <a:t> REFERENCES</a:t>
            </a:r>
            <a:br>
              <a:rPr lang="en-IN" sz="1400" dirty="0">
                <a:latin typeface="Arial Black" panose="020B0A04020102020204" pitchFamily="34" charset="0"/>
              </a:rPr>
            </a:br>
            <a:endParaRPr lang="en-IN" sz="3600" b="1" dirty="0">
              <a:latin typeface="Arial Black" panose="020B0A04020102020204" pitchFamily="34" charset="0"/>
            </a:endParaRPr>
          </a:p>
        </p:txBody>
      </p:sp>
      <p:sp>
        <p:nvSpPr>
          <p:cNvPr id="4" name="Rectangle 1">
            <a:extLst>
              <a:ext uri="{FF2B5EF4-FFF2-40B4-BE49-F238E27FC236}">
                <a16:creationId xmlns:a16="http://schemas.microsoft.com/office/drawing/2014/main" id="{68714E93-03EB-FBF1-4506-5AC7BC8D5ABE}"/>
              </a:ext>
            </a:extLst>
          </p:cNvPr>
          <p:cNvSpPr>
            <a:spLocks noGrp="1" noChangeArrowheads="1"/>
          </p:cNvSpPr>
          <p:nvPr>
            <p:ph idx="1"/>
          </p:nvPr>
        </p:nvSpPr>
        <p:spPr bwMode="auto">
          <a:xfrm>
            <a:off x="700000" y="1914720"/>
            <a:ext cx="11239040" cy="4735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marL="0" indent="0">
              <a:lnSpc>
                <a:spcPct val="100000"/>
              </a:lnSpc>
              <a:spcAft>
                <a:spcPts val="400"/>
              </a:spcAft>
              <a:buNone/>
            </a:pPr>
            <a:r>
              <a:rPr lang="en-US" sz="1400" dirty="0">
                <a:latin typeface="Times New Roman"/>
                <a:cs typeface="Times New Roman"/>
              </a:rPr>
              <a:t>[6] Y. Y. Munaye, Y. B. Checkol, T. A. Alemu, and A. K. Tegegne, "Plant leaf disease detection using CNNs," 12th EAI Int. Conf. (ICAST 2024), Springer, 2026, pp. 79-90.</a:t>
            </a:r>
            <a:endParaRPr lang="en-US"/>
          </a:p>
          <a:p>
            <a:pPr marL="0" indent="0">
              <a:lnSpc>
                <a:spcPct val="100000"/>
              </a:lnSpc>
              <a:spcAft>
                <a:spcPts val="800"/>
              </a:spcAft>
              <a:buNone/>
            </a:pPr>
            <a:r>
              <a:rPr lang="en-US" sz="1400" u="sng" dirty="0">
                <a:solidFill>
                  <a:srgbClr val="1155CC"/>
                </a:solidFill>
                <a:latin typeface="Times New Roman"/>
                <a:cs typeface="Times New Roman"/>
                <a:hlinkClick r:id="rId2"/>
              </a:rPr>
              <a:t>https://doi.org/10.1007/978-3-032-04203-3_6</a:t>
            </a:r>
            <a:endParaRPr lang="en-US" sz="1400" u="sng">
              <a:solidFill>
                <a:srgbClr val="1155CC"/>
              </a:solidFill>
              <a:latin typeface="Times New Roman"/>
              <a:cs typeface="Times New Roman"/>
            </a:endParaRPr>
          </a:p>
          <a:p>
            <a:pPr marL="0" indent="0">
              <a:lnSpc>
                <a:spcPct val="100000"/>
              </a:lnSpc>
              <a:spcAft>
                <a:spcPts val="400"/>
              </a:spcAft>
              <a:buNone/>
            </a:pPr>
            <a:r>
              <a:rPr lang="en-US" sz="1400" dirty="0">
                <a:latin typeface="Times New Roman"/>
                <a:cs typeface="Times New Roman"/>
              </a:rPr>
              <a:t>[7] T. T. Nguyen et al., "Generative AI-driven hybrid data augmentation for tomato leaf disease classification," Multimedia Tools and Applications, vol. 85, art. 728, 2026.</a:t>
            </a:r>
          </a:p>
          <a:p>
            <a:pPr marL="0" indent="0">
              <a:lnSpc>
                <a:spcPct val="100000"/>
              </a:lnSpc>
              <a:spcAft>
                <a:spcPts val="800"/>
              </a:spcAft>
              <a:buNone/>
            </a:pPr>
            <a:r>
              <a:rPr lang="en-US" sz="1400" u="sng" dirty="0">
                <a:solidFill>
                  <a:srgbClr val="1155CC"/>
                </a:solidFill>
                <a:latin typeface="Times New Roman"/>
                <a:cs typeface="Times New Roman"/>
                <a:hlinkClick r:id="rId3"/>
              </a:rPr>
              <a:t>https://doi.org/10.1007/s11042-026-21895-2</a:t>
            </a:r>
            <a:endParaRPr lang="en-US" sz="1400" u="sng">
              <a:solidFill>
                <a:srgbClr val="1155CC"/>
              </a:solidFill>
              <a:latin typeface="Times New Roman"/>
              <a:cs typeface="Times New Roman"/>
            </a:endParaRPr>
          </a:p>
          <a:p>
            <a:pPr marL="0" indent="0">
              <a:lnSpc>
                <a:spcPct val="100000"/>
              </a:lnSpc>
              <a:spcAft>
                <a:spcPts val="400"/>
              </a:spcAft>
              <a:buNone/>
            </a:pPr>
            <a:r>
              <a:rPr lang="en-US" sz="1400" dirty="0">
                <a:latin typeface="Times New Roman"/>
                <a:cs typeface="Times New Roman"/>
              </a:rPr>
              <a:t>[8] P. P. Gadekar, O. Pattnaik, and A. D. Potgantwar, "Tomato leaf disease detection using EfficientNet-ViT hybrid model," ICIVC 2025, Springer, 2026, pp. 187-198.</a:t>
            </a:r>
          </a:p>
          <a:p>
            <a:pPr marL="0" indent="0">
              <a:lnSpc>
                <a:spcPct val="100000"/>
              </a:lnSpc>
              <a:spcAft>
                <a:spcPts val="800"/>
              </a:spcAft>
              <a:buNone/>
            </a:pPr>
            <a:r>
              <a:rPr lang="en-US" sz="1400" u="sng" dirty="0">
                <a:solidFill>
                  <a:srgbClr val="1155CC"/>
                </a:solidFill>
                <a:latin typeface="Times New Roman"/>
                <a:cs typeface="Times New Roman"/>
                <a:hlinkClick r:id="rId4"/>
              </a:rPr>
              <a:t>https://doi.org/10.1007/978-3-032-10667-4_16</a:t>
            </a:r>
            <a:endParaRPr lang="en-US" sz="1400" u="sng">
              <a:solidFill>
                <a:srgbClr val="1155CC"/>
              </a:solidFill>
              <a:latin typeface="Times New Roman"/>
              <a:cs typeface="Times New Roman"/>
            </a:endParaRPr>
          </a:p>
          <a:p>
            <a:pPr marL="0" indent="0">
              <a:lnSpc>
                <a:spcPct val="100000"/>
              </a:lnSpc>
              <a:spcAft>
                <a:spcPts val="400"/>
              </a:spcAft>
              <a:buNone/>
            </a:pPr>
            <a:r>
              <a:rPr lang="en-US" sz="1400" dirty="0">
                <a:latin typeface="Times New Roman"/>
                <a:cs typeface="Times New Roman"/>
              </a:rPr>
              <a:t>[9] N. Jain, A. Singh, and S. Jain, "Enhancing tomato leaf disease classification with deep transfer learning on VGG16," DSAI 2025, Springer, 2026, pp. 183-195.</a:t>
            </a:r>
          </a:p>
          <a:p>
            <a:pPr marL="0" indent="0">
              <a:lnSpc>
                <a:spcPct val="100000"/>
              </a:lnSpc>
              <a:spcAft>
                <a:spcPts val="800"/>
              </a:spcAft>
              <a:buNone/>
            </a:pPr>
            <a:r>
              <a:rPr lang="en-US" sz="1400" u="sng" dirty="0">
                <a:solidFill>
                  <a:srgbClr val="1155CC"/>
                </a:solidFill>
                <a:latin typeface="Times New Roman"/>
                <a:cs typeface="Times New Roman"/>
                <a:hlinkClick r:id="rId5"/>
              </a:rPr>
              <a:t>https://doi.org/10.1007/978-981-96-9083-1_15</a:t>
            </a:r>
            <a:endParaRPr lang="en-US" sz="1400" u="sng">
              <a:solidFill>
                <a:srgbClr val="1155CC"/>
              </a:solidFill>
              <a:latin typeface="Times New Roman"/>
              <a:cs typeface="Times New Roman"/>
            </a:endParaRPr>
          </a:p>
          <a:p>
            <a:pPr marL="0" indent="0">
              <a:lnSpc>
                <a:spcPct val="100000"/>
              </a:lnSpc>
              <a:spcAft>
                <a:spcPts val="400"/>
              </a:spcAft>
              <a:buNone/>
            </a:pPr>
            <a:r>
              <a:rPr lang="en-US" sz="1400" dirty="0">
                <a:latin typeface="Times New Roman"/>
                <a:cs typeface="Times New Roman"/>
              </a:rPr>
              <a:t>[10] K. S. Chaudhury et al., "Deep learning based multi-class identification of tomato leaf diseases," HITA 2025, Springer, 2026, pp. 169-180.</a:t>
            </a:r>
          </a:p>
          <a:p>
            <a:pPr marL="0" indent="0">
              <a:lnSpc>
                <a:spcPct val="100000"/>
              </a:lnSpc>
              <a:spcAft>
                <a:spcPts val="800"/>
              </a:spcAft>
              <a:buNone/>
            </a:pPr>
            <a:r>
              <a:rPr lang="en-US" sz="1400" u="sng" dirty="0">
                <a:solidFill>
                  <a:srgbClr val="1155CC"/>
                </a:solidFill>
                <a:latin typeface="Times New Roman"/>
                <a:cs typeface="Times New Roman"/>
                <a:hlinkClick r:id="rId6"/>
              </a:rPr>
              <a:t>https://doi.org/10.1007/978-3-032-19529-6_16</a:t>
            </a:r>
            <a:endParaRPr lang="en-US" sz="1400" u="sng">
              <a:solidFill>
                <a:srgbClr val="1155CC"/>
              </a:solidFill>
              <a:latin typeface="Times New Roman"/>
              <a:cs typeface="Times New Roman"/>
            </a:endParaRPr>
          </a:p>
        </p:txBody>
      </p:sp>
      <p:sp>
        <p:nvSpPr>
          <p:cNvPr id="3" name="Rectangle 4">
            <a:extLst>
              <a:ext uri="{FF2B5EF4-FFF2-40B4-BE49-F238E27FC236}">
                <a16:creationId xmlns:a16="http://schemas.microsoft.com/office/drawing/2014/main" id="{ECB20325-38D5-F465-0310-B1E07AFABD93}"/>
              </a:ext>
            </a:extLst>
          </p:cNvPr>
          <p:cNvSpPr>
            <a:spLocks noChangeArrowheads="1"/>
          </p:cNvSpPr>
          <p:nvPr/>
        </p:nvSpPr>
        <p:spPr bwMode="auto">
          <a:xfrm>
            <a:off x="2578627" y="120000"/>
            <a:ext cx="7034746" cy="12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SHALAKA FOU</a:t>
            </a:r>
            <a:r>
              <a:rPr kumimoji="0" lang="en-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a:t>
            </a:r>
            <a:r>
              <a:rPr kumimoji="0" lang="sa-IN"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DATION’S</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ts val="600"/>
              </a:spcBef>
              <a:spcAft>
                <a:spcPct val="0"/>
              </a:spcAft>
              <a:buClrTx/>
              <a:buSzTx/>
              <a:buFontTx/>
              <a:buNone/>
              <a:tabLst/>
            </a:pPr>
            <a:r>
              <a:rPr kumimoji="0" lang="sa-IN" altLang="en-US" sz="2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Mangal" panose="02040503050203030202" pitchFamily="18" charset="0"/>
              </a:rPr>
              <a:t>KEYSTONE SCHOOL OF ENGINEERING</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6">
            <a:extLst>
              <a:ext uri="{FF2B5EF4-FFF2-40B4-BE49-F238E27FC236}">
                <a16:creationId xmlns:a16="http://schemas.microsoft.com/office/drawing/2014/main" id="{41A614E0-587E-03DC-0944-7D3EA5B425F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8676" y="166086"/>
            <a:ext cx="1040091" cy="952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712106"/>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2952</TotalTime>
  <Words>377</Words>
  <Application>Microsoft Office PowerPoint</Application>
  <PresentationFormat>Widescreen</PresentationFormat>
  <Paragraphs>90</Paragraphs>
  <Slides>14</Slides>
  <Notes>3</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Vapor Trail</vt:lpstr>
      <vt:lpstr>    Deep Learning-Based Classification of Tomato Leaf Diseases Using CNN  Presented by Abhijeet Tukaram Kangane Roll No- 38   Under the guidance of Prof. Suvarna Phule   REVIEW DATE              PAGE NO           </vt:lpstr>
      <vt:lpstr>PowerPoint Presentation</vt:lpstr>
      <vt:lpstr>ABSTRACT</vt:lpstr>
      <vt:lpstr>INTRODUCTION</vt:lpstr>
      <vt:lpstr>LITERATURE SURVEY </vt:lpstr>
      <vt:lpstr>LITERATURE SURVEY </vt:lpstr>
      <vt:lpstr>METHODOLOGY</vt:lpstr>
      <vt:lpstr>METHODOLOGY</vt:lpstr>
      <vt:lpstr>RESULT ANALYSIS </vt:lpstr>
      <vt:lpstr>RESULT ANALYSIS </vt:lpstr>
      <vt:lpstr> CONCLUSION</vt:lpstr>
      <vt:lpstr>FUTURE SCOPE </vt:lpstr>
      <vt:lpstr> REFERENCES </vt:lpstr>
      <vt:lpstr> 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Shreeyash Shinde</dc:creator>
  <cp:lastModifiedBy>Srushti Gunthe</cp:lastModifiedBy>
  <cp:revision>135</cp:revision>
  <dcterms:created xsi:type="dcterms:W3CDTF">2024-09-17T05:24:47Z</dcterms:created>
  <dcterms:modified xsi:type="dcterms:W3CDTF">2026-10-02T13:45:10Z</dcterms:modified>
</cp:coreProperties>
</file>